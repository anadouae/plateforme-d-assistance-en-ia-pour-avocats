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84A"/>
                </a:solidFill>
                <a:latin typeface="Calibri"/>
              </a:rPr>
              <a:t>SOUTENANCE — PROJET DE FIN D’ANNÉE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FFFFFF"/>
                </a:solidFill>
                <a:latin typeface="Georgia"/>
              </a:rPr>
              <a:t>LexHub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C4CCD8"/>
                </a:solidFill>
                <a:latin typeface="Calibri"/>
              </a:rPr>
              <a:t>SaaS d’assistance IA pour cabinets d’avocats au Maroc
De la dictée et des pièces à la plaidoirie officielle — en production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A0AABC"/>
                </a:solidFill>
                <a:latin typeface="Calibri"/>
              </a:rPr>
              <a:t>https://lexhub.space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A0AABC"/>
                </a:solidFill>
                <a:latin typeface="Calibri"/>
              </a:rPr>
              <a:t>ENSA Tétouan  ·  WEBVOICE (Tanger)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A0AABC"/>
                </a:solidFill>
                <a:latin typeface="Calibri"/>
              </a:rPr>
              <a:t>Douae El Assal  ·  Encadrant : M. Hatim Benhaddou  ·  Tuteur : M. Mohammed Al Achhab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Une idée = une slide — produit réel déployé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Objectifs livrés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Positionnement LexHub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Cœur : aide IA à l’avocat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Dossier : données &amp; utilité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Documents &amp; synthèse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Équipe &amp; accès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Tarifs, quotas, crédits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Parrainage &amp; rentabilisation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Sécurité &amp; déploiement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Bilan &amp; perspectives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1. Contexte &amp;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Barreau marocain · stage WEBVOICE · livrable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9496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Production écrite dense : plaidoiries, mémoires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Circuit artisanal : notes → ressaisie → Word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Bilinguisme arabe / français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Secret professionnel → isolation cabinet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ChatGPT générique : pas de dossiers, rôles,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pièces OCR, export officiel, quotas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WEBVOICE (Tanger) : voix + web → LegalTech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Livré : LexHub en production (lexhub.space)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577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25272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563624"/>
            <a:ext cx="53035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Comment déployer une SaaS multi-cabinets qui 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1. transforme dictée + pièces en plaidoirie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 structurée (Word/PDF officiel)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2. complète les manques via questions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3. collabore avec l’assistant sans exposer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   les brouillons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4. monétise (quotas, crédits, parrainage)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5. sans inventer le fond juridique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2. Objectifs — tous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Pipeline voix + pièces → questions → rédaction → chat révision → export logo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Espace cabinet : dossiers, documents, planning, activité, clé de barre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Analyse documentaire (synthèse / Q&amp;A) et analyse de dossier (overview)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Équipe : invitations e-mail + code d’adhésion, sièges selon plan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Freemium + Solo / Cabinet / Entreprise + crédits IA + usage à la demande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Parrainage cabinet→cabinet (+14 j / +30 j) · isolation multi-tenant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▸  Prod TLS, OTP, WebSocket, CI/CD sur https://lexhub.space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3. Positionnement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Outil de cabinet — pas un chatbot libre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LexHub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342900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Dictée + pièces → document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Questions de clarification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Révision par chat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Synthèse / analyse sourcée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Export Word &amp; PDF + logo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Rôles, validation, équipe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Quotas &amp; parrainage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252728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LexHub ne fait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563624"/>
            <a:ext cx="342900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Remplacer le conseil juridique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Inventer faits / articles / montants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ERP facturation du cabinet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Remplacer Mahakim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Lire les dossiers côté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admin plateforme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25272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Principe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563624"/>
            <a:ext cx="338328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L’avocat reste seul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responsable du contenu.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L’IA structure, propose,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interroge — ne plaide pas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à sa place.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4. Comment l’IA aide réellement l’avocat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Parcours déployé — atelier plaidoirie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Dossier + pièces OCR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+ dictée avocat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Manques détectés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arguments / faits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QCM de clarification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(max 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Rédaction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Structure pro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anti-invention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Révision guidée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crédits visibles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1430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7" y="1280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9A84A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7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10312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2436"/>
                </a:solidFill>
                <a:latin typeface="Calibri"/>
              </a:rPr>
              <a:t>Aperçu + Word/PDF</a:t>
            </a:r>
          </a:p>
          <a:p>
            <a:r>
              <a:rPr sz="1100" b="0">
                <a:solidFill>
                  <a:srgbClr val="1A2436"/>
                </a:solidFill>
                <a:latin typeface="Calibri"/>
              </a:rPr>
              <a:t>logo cabinet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703320"/>
            <a:ext cx="11430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381304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Règle métier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123944"/>
            <a:ext cx="1115568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La dictée est la source primaire des faits. Les pièces jointes ancrent les preuves (OCR). Si une info manque, LexHub ne l’invente pas : il pose des questions, puis compose. L’avocat édite au chat, voit l’aperçu officiel, télécharge Word ou PDF avec le branding cabinet.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4bis. Aperçu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Atelier &amp; tableau de bord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" y="1106424"/>
            <a:ext cx="574243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b-plaidoirie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669280" cy="4937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81344" y="1106424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c-transcription-fus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577840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5. Création de dossier — données &amp; utilité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Identité juridique pour la plaidoirie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Client / parties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0759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Noms, rôles, qualités (physique / morale)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Tribunal &amp; ville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3911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Siège + type de juridiction marocaine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0604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N° RG / greffe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7063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Références citées dans l’acte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3756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021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Degré / chambre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0215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1ère instance, appel, référé…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6908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336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3367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1ère audience → planning lié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800600"/>
            <a:ext cx="11430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Adversaire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965192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Partie adverse + domicile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6. Documents &amp; intelligence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Hors atelier plaidoirie — gain de temps quotidien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Pièces &amp; module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Upload pièces (OCR asynchrone)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Synthèse sourcée d’un document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(pas d’affirmation sans ancrage)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Q&amp;A sur une pièce (crédits ask)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Peut rattacher à un dossier ou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zone « Non classé »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Utilité : lire vite un contrat,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une requête, un PV sans tout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relire manuellement.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Vue d’ensemble du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Analyse de dossier (overview)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: synthèse transversale des pièces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Clé de barre : fiche orale IA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pour préparer l’audience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(≠ mot de passe)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Utilité : l’avocat arrive à l’audience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avec les points clés, sans inventer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ce qui n’est pas dans le dossier.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7. Gestion d’équipe &amp; 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Admin cabinet = avocat + responsable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Invitations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1. E-mail d’invitation (rôle choisi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avocat / assistant) — lien + code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2. Code d’adhésion cabinet (durée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limitée, approvals contrôlés)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3. Quotas de sièges selon le plan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 (Solo 1+1 · Cabinet 5+3 · …)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Page Équipe + Paramètres cabinet.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Visibilité plaidoirie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Brouillon : avocat / admin seulement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Valider → visible aux assistants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Assigner → notification ciblée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Épingler (pin) sur pièce validée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Assistant : pas d’IA lourde ;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peut quitter via Zone sensible.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Admin plateforme : purge cabinets,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sans lire les affaires.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8. 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Stack de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Couches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Frontend — Next.js, TypeScript, FR/AR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API — FastAPI, JWT, Alembic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Jobs — Celery (OCR, traitements)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Données — PostgreSQL, Redis, objets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Voix — STT + correction de forme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IA — routeur + anti-invention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Export — Word / PDF arabe + logo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Infra — Docker, Caddy, VPS, GHCR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Garanties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Isolation cabinet_id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RBAC par rôle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OTP e-mail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WebSocket temps réel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Audit actions sensibles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HTTPS / TLS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URL : https://lexhub.space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9. Tarifs, quotas &amp; crédits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API live /api/billing/plans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MAD/mois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Sièges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Plaidoiries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Crédits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143000"/>
            <a:ext cx="1874519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1234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Essai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Découverte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1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1673352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Solo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299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5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1+1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1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1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1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600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2240280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23500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14 j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Cabinet 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915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699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5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511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5+3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1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1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2 000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2807208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291693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30 j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Entreprise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8600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1 290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5195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15+10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1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1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350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7031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5 000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49840" y="3374136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22992" y="348386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30 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11480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Coûts crédits : polish 1 · ask 2 · clarify 3 · synthèse 4 · révision 5 · analyse / clé de barre 8 · rédaction 10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Usage à la demande : OFF par défaut · ~0,25 MAD / crédit hors forfait (plans payants) · plafond MAD optionnel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Paiement : admin cabinet · CMI/PayZone env. prêt · activation opérateur en cours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▸  UX : solde crédits visible ; à chaque action IA, animation −N ; alerte amicale si solde bas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10. Parrainage &amp; rentabilisation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Croissance organique + freemium contrôlé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Parrainage (déployé)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Code LH-… + lien ?ref=CODE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Landing #parrainage + inscription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Filleul : +14 j d’essai Solo/Cabinet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Parrain : +30 j au paiement réel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du filleul (après essai)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Anti-abus : pas d’auto-ref · max 12/an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UI : Plan &amp; usage (#parrainage)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Logique économique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Découverte : acquisition (3/50)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Solo : avocat indépendant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Cabinet : cœur de revenus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Entreprise : volume + sièges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Crédits + plafonds = marge IA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À la demande = filet payant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Parrainage = CAC organique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Résiliation fin de période payée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11. Sécurité, tests, déploiement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6128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7218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JWT / sessions · rate limiting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Multi-tenant (Rabat ≠ Atlas)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OTP inscription / sensible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Audit · Zone sensible comptes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Admin WV : suspendre / purger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  sans ouvrir les dossiers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16128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Livré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47218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Prod : lexhub.space (Caddy TLS)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CI → images GHCR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Scénarios rôles + pipeline 5 étapes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Kits test commercial &amp; famille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Rapport PFA + guide encadrant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≠ démo hors-ligne : SaaS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12.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Évolution produit — outillage déjà en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Précision / latence STT arabe juridique (lexique cabinet)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Modèles par domaine + historique de versions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Indicateurs métier · planning ↔ audience ↔ plaidoirie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Activer paiement opérateur CMI / PayZone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2436"/>
                </a:solidFill>
                <a:latin typeface="Calibri"/>
              </a:rPr>
              <a:t>▸  Rétention audio &amp; politiques de purge renforcées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lexhub.space · ENSA Tétouan · WEBVOICE · PFA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9728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0175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Merci de votre attention</a:t>
            </a:r>
          </a:p>
          <a:p>
            <a:pPr algn="ctr">
              <a:spcBef>
                <a:spcPts val="1400"/>
              </a:spcBef>
            </a:pPr>
            <a:r>
              <a:rPr sz="1700" b="0">
                <a:solidFill>
                  <a:srgbClr val="C9A84A"/>
                </a:solidFill>
                <a:latin typeface="Calibri"/>
              </a:rPr>
              <a:t>Questions  ·  Démonstration : https://lexhub.space</a:t>
            </a:r>
          </a:p>
          <a:p>
            <a:pPr algn="ctr">
              <a:spcBef>
                <a:spcPts val="1600"/>
              </a:spcBef>
            </a:pPr>
            <a:r>
              <a:rPr sz="1300" b="0">
                <a:solidFill>
                  <a:srgbClr val="A0AABE"/>
                </a:solidFill>
                <a:latin typeface="Calibri"/>
              </a:rPr>
              <a:t>Douae El Assal  ·  ENSA Tétouan  ·  WEBVOICE  ·  LexHub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