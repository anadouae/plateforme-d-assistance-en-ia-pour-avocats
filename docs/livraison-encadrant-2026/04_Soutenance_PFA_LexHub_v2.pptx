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6576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9A84A"/>
                </a:solidFill>
                <a:latin typeface="Calibri"/>
              </a:rPr>
              <a:t>SOUTENANCE PFA — 2026</a:t>
            </a:r>
          </a:p>
          <a:p>
            <a:pPr algn="ctr">
              <a:spcBef>
                <a:spcPts val="1200"/>
              </a:spcBef>
            </a:pPr>
            <a:r>
              <a:rPr sz="4400" b="1">
                <a:solidFill>
                  <a:srgbClr val="FFFFFF"/>
                </a:solidFill>
                <a:latin typeface="Georgia"/>
              </a:rPr>
              <a:t>LexHub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C8D0DC"/>
                </a:solidFill>
                <a:latin typeface="Calibri"/>
              </a:rPr>
              <a:t>Plateforme SaaS d’assistance IA pour cabinets d’avocats
Dictée arabe → plaidoirie officielle · multi-tenant · en production</a:t>
            </a:r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A8B4C4"/>
                </a:solidFill>
                <a:latin typeface="Calibri"/>
              </a:rPr>
              <a:t>https://lexhub.space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A8B4C4"/>
                </a:solidFill>
                <a:latin typeface="Calibri"/>
              </a:rPr>
              <a:t>ENSA Tétouan  ·  WEBVOICE (Tanger)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A8B4C4"/>
                </a:solidFill>
                <a:latin typeface="Calibri"/>
              </a:rPr>
              <a:t>Stagiaire : Douae El Assal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A8B4C4"/>
                </a:solidFill>
                <a:latin typeface="Calibri"/>
              </a:rPr>
              <a:t>Encadrant entreprise : M. Hatim Benhaddou  ·  Tuteur école : M. Mohammed Al Achhab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Document officiel de soutenance — LexHub production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Plan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Produit LexHub en production — https://lexhub.space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35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721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35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721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Objectifs livrés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488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865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LexHub vs outils génériques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500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865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Acteurs &amp; droits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632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644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009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Architecture prod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644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009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5 étapes plaidoirie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77639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78807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15383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Espace cabinet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77639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78807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15383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Sécurité &amp; collaboration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920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93207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29783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Tarifs, quotas, parrainage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92040"/>
            <a:ext cx="5623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93207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129783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Tests, déploiement, suite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1. Contexte &amp; problématique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Barreau marocain · stage WEBVOICE · produit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Plaidoiries &amp; mémoires = charge écrite lourde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Circuit artisanal : notes → ressaisie → Word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Usage bilingue arabe / français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Secret professionnel → isolation cabinet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ChatGPT seul = pas de dossiers, rôles,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  validation stagiaire, export officiel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WEBVOICE (Tanger) : voix + web → LegalTech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Livrable stage : LexHub en production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URL : https://lexhub.space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Problématique (rapport)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Concevoir et déployer une SaaS multi-cabinets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qui permet à l’avocat marocain de 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1) dicter en arabe une plaidoirie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2) obtenir un document structuré + export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   Word/PDF officiel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3) collaborer avec l’assistant sans exposer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   les brouillons non validés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4) sans invention de fond par l’IA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5) avec abonnement, quotas et parrainage.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2. Objectifs — tous livrés en prod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Alignés rapport PFA · version https://lexhub.space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O1 — Pipeline voix → texte → document en 5 étapes guidées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O2 — Cabinet : dossiers, documents, planning, équipe, activité, clé de barre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O3 — Multi-tenant strict (cabinet_id) — Rabat ≠ Atlas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O4 — Rôles : avocat · assistant · admin cabinet · admin plateforme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O5 — Valider / assigner / épingler avant partage stagiaire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O6 — Freemium + Solo/Cabinet/Entreprise + quotas + usage à la demande + parrainage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O7 — Prod TLS, e-mails OTP, WebSocket, export Word/PDF sur lexhub.space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3. LexHub n’est pas un chatbot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Positionnement LegalTech cabinet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7033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3441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LexHub fait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73352"/>
            <a:ext cx="34290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Dictée → correction forme → document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5 étapes + rail Étape X/5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Dossiers / pièces / planning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Clé de barre (fiche orale IA)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Validation &amp; assignation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Export Word + PDF charte cabinet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Quotas + parrainage + Plan &amp; usage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Menu latéral + en-tête (Ctrl+K…)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34440"/>
            <a:ext cx="37033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8264" y="13441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LexHub ne fait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8264" y="1673352"/>
            <a:ext cx="34290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Remplacer le conseil juridique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Inventer faits / articles / montants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ERP de facturation du cabinet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Remplacer Mahakim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Laisser l’admin plateforme lire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  les dossiers clients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Facturer hors forfait sans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  activation « usage à la demande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657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34416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Responsabilité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73352"/>
            <a:ext cx="3383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L’avocat reste seul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responsable du contenu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plaidé ou déposé.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L’IA assiste la forme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et la structure —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pas le fond juridique.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4. Acteurs (prod)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Admin cabinet = avocat + responsable abo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Admin cabinet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630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837"/>
                </a:solidFill>
                <a:latin typeface="Calibri"/>
              </a:rPr>
              <a:t>Produit avocat + équipe, Plan &amp; usage, paiement, branding, parrainage, clôture / zone sensible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77440"/>
            <a:ext cx="11430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Avocat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837"/>
                </a:solidFill>
                <a:latin typeface="Calibri"/>
              </a:rPr>
              <a:t>Dicter, corriger, rédiger IA, valider, assigner, exporter, dossiers, clé de barre ; quitter le compte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20440"/>
            <a:ext cx="11430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39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837"/>
                </a:solidFill>
                <a:latin typeface="Calibri"/>
              </a:rPr>
              <a:t>Plaidoiries validées/assignées, dépôt pièces ; pas d’IA lourde ; peut quitter (zone sensible)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663440"/>
            <a:ext cx="11430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3775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A1228"/>
                </a:solidFill>
                <a:latin typeface="Calibri"/>
              </a:rPr>
              <a:t>Admin plateforme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8920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2837"/>
                </a:solidFill>
                <a:latin typeface="Calibri"/>
              </a:rPr>
              <a:t>Suspendre / réactiver / purger un cabinet — jamais lecture des affaires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5. Architecture technique (prod)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Stack déployée sur le VPS LexHub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Stack déployée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Frontend — Next.js, TypeScript, Tailwind, FR/AR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API — FastAPI, SQLAlchemy, Alembic, JWT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Jobs — Celery (OCR, traitements longs)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Données — PostgreSQL, Redis, stockage objet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Voix — STT cloud + correction de forme locale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IA — routeur de modèles + anti-invention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Export — Word &amp; PDF (arabe, en-tête cabinet)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Infra — Docker Compose + Caddy + VPS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CI — GitHub Actions → images GHCR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Principes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Isolation cabinet_id partout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RBAC par rôle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WebSocket temps réel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OTP e-mail (inscription / sensible)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Rate limiting endpoints sensibles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Audit des actions clés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HTTPS / TLS (Caddy)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Prod : https://lexhub.space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Compose : docker-compose.yml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+ docker-compose.lexhub.yml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6. Pipeline plaidoirie — 5 étapes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Ordre prod : Dossier → Dictée → Transcription → Rédaction →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96596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Dossier &amp; pièces</a:t>
            </a:r>
          </a:p>
          <a:p>
            <a:r>
              <a:rPr sz="1200" b="0">
                <a:solidFill>
                  <a:srgbClr val="1E2837"/>
                </a:solidFill>
                <a:latin typeface="Calibri"/>
              </a:rPr>
              <a:t>Affaire, type, pièces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28016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417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96596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Dictée</a:t>
            </a:r>
          </a:p>
          <a:p>
            <a:r>
              <a:rPr sz="1200" b="0">
                <a:solidFill>
                  <a:srgbClr val="1E2837"/>
                </a:solidFill>
                <a:latin typeface="Calibri"/>
              </a:rPr>
              <a:t>Micro ou fichier arabe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128016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417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7" y="196596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Transcription</a:t>
            </a:r>
          </a:p>
          <a:p>
            <a:r>
              <a:rPr sz="1200" b="0">
                <a:solidFill>
                  <a:srgbClr val="1E2837"/>
                </a:solidFill>
                <a:latin typeface="Calibri"/>
              </a:rPr>
              <a:t>Brut · Corriger · orange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28016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1417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196596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Rédaction IA</a:t>
            </a:r>
          </a:p>
          <a:p>
            <a:r>
              <a:rPr sz="1200" b="0">
                <a:solidFill>
                  <a:srgbClr val="1E2837"/>
                </a:solidFill>
                <a:latin typeface="Calibri"/>
              </a:rPr>
              <a:t>Structure · valider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19" y="1280160"/>
            <a:ext cx="21945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417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6647" y="1965960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Export</a:t>
            </a:r>
          </a:p>
          <a:p>
            <a:r>
              <a:rPr sz="1200" b="0">
                <a:solidFill>
                  <a:srgbClr val="1E2837"/>
                </a:solidFill>
                <a:latin typeface="Calibri"/>
              </a:rPr>
              <a:t>Word · PDF · modèle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11430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81304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Garde-fous (prod)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142231"/>
            <a:ext cx="111556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Correction = forme (fusḥā / orthographe) — pas de résumé inventé. Composition : aucun fait, article ou montant absent de la dictée n’est inventé ; manques signalés. Surlignage orange = substitutions STT à relire. Contrôle contradictions (dates, noms, montants).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6bis. Aperçu UI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Maquettes alignées parcours LexHub</a:t>
            </a:r>
          </a:p>
        </p:txBody>
      </p:sp>
      <p:pic>
        <p:nvPicPr>
          <p:cNvPr id="4" name="Picture 3" descr="14b-plaidoirie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4983480"/>
          </a:xfrm>
          <a:prstGeom prst="rect">
            <a:avLst/>
          </a:prstGeom>
        </p:spPr>
      </p:pic>
      <p:pic>
        <p:nvPicPr>
          <p:cNvPr id="5" name="Picture 4" descr="10-tableau-de-b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577840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7. Espace cabinet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Menu latéral + barre d’en-tête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Menu latéral : Plaidoirie (ou Plaidoiries validées) · Dossiers · Documents · Planning · Activité · Équipe (admin)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En-tête : recherche Ctrl+K · cloche (admin/assistant) · abo (admin) · aide · thème · engrenage · FR/AR · compte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Dossiers : domaine, filtre, pièces · clé de barre = fiche orale IA (8 crédits) — ce n’est pas un mot de passe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Documents : OCR + synthèse sourcée · Planning ↔ dossiers · Journal d’activité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E2837"/>
                </a:solidFill>
                <a:latin typeface="Calibri"/>
              </a:rPr>
              <a:t>▸  Paramètres /settings : Général · Cabinet · Plan &amp; usage · Sécurité · Zone sensible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8. Collaboration &amp;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Brouillon invisible à l’assistant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Valider → visible dans le cabinet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Assigner → notif + e-mail ; valide si besoin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Épingler (pin) sur pièce déjà validée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Temps réel WebSocket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Assistant : pas d’IA de rédaction lourde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JWT / sessions + rate limiting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Isolation cabinet_id (démo Rabat ≠ Atlas)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OTP inscription / actions sensibles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Audit des actions clés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Admin WV : suspendre / purger sans lire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• Zone sensible : avocat, assistant, admin 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9. Tarifs &amp; quotas (API live)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GET https://lexhub.space/api/billing/plans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79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13432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Prix / mois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Sièges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1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Plaidoiries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Crédits 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188720"/>
            <a:ext cx="1874519" cy="45720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77272" y="126187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Essai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Découverte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79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432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0 MAD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 avocat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199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1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737360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865376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Solo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79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13432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299 MAD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 + 1 assist.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199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1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600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2359152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7272" y="248716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14 j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Cabinet 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40279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699 MAD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9392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5 + 3 assist.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199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1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2 000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04120" y="2980944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77272" y="310896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30 j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Entreprise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40279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1 290 MAD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0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9392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15 + 10 assist.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199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5351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350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11312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5 000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04120" y="3602736"/>
            <a:ext cx="187451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77272" y="37307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837"/>
                </a:solidFill>
                <a:latin typeface="Calibri"/>
              </a:rPr>
              <a:t>30 j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43434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▸  Usage à la demande : OFF par défaut · ~0,25 MAD / crédit hors forfait si activé · interdit sur Découverte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▸  Paiement &amp; changement de plan : admin cabinet seul · CMI/PayZone : environnement prêt, activation opérateur en cours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837"/>
                </a:solidFill>
                <a:latin typeface="Calibri"/>
              </a:rPr>
              <a:t>▸  Coûts types : rédaction ≈ 10 crédits · révision ≈ 5 · clé de barre ≈ 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9bis. Parrainage cabinet → cabinet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Déployé (migration 034 + UI Plan &amp; usage)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Code cabinet (ex. LH-…) + lien inscription ?ref=CODE (landing #parrainage + formulaire)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Filleul : +14 jours d’essai au démarrage Solo / Cabinet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Parrain : +30 jours quand l’abonnement payant du filleul démarre après l’essai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Anti-abus : pas d’auto-parrainage · max 12 / an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UI : Paramètres → Plan &amp; usage (#parrainage) · popup « Voir mon code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10. Tests, déploiement, bilan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Validé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Inscription OTP → cabinet actif immédiat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Pipeline 5 étapes bout-en-bout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Isolation multi-tenant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Visibilité assistant = validé/assigné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Quotas + usage à la demande + parrainage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Zone sensible (y compris assistant)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Tests auto forme arabe / pipeline dictée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Kits test commercial &amp; famille (docs/)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6235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344168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1673352"/>
            <a:ext cx="5349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https://lexhub.space en production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Docker + Caddy + TLS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CI → GHCR (frontend, backend, celery)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Rapport PFA LaTeX à jour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Guide utilisation &amp; tests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• Proposition rentabilisation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E2837"/>
                </a:solidFill>
                <a:latin typeface="Calibri"/>
              </a:rPr>
              <a:t>≠ démo hors-ligne : SaaS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  Perspectives</a:t>
            </a:r>
          </a:p>
          <a:p>
            <a:r>
              <a:rPr sz="1200" b="0">
                <a:solidFill>
                  <a:srgbClr val="B4BED2"/>
                </a:solidFill>
                <a:latin typeface="Calibri"/>
              </a:rPr>
              <a:t>  Évolution produit — CI/CD et déploiement déjà en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Précision &amp; latence STT arabe juridique (lexique cabinet)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Modèles de plaidoirie par domaine + historique de versions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Indicateurs métier · planning ↔ audience ↔ plaidoirie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Activer le paiement opérateur CMI / PayZone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Politiques de rétention audio / purge renforcées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837"/>
                </a:solidFill>
                <a:latin typeface="Calibri"/>
              </a:rPr>
              <a:t>▸  Plus long terme : signature électronique, APIs judiciaires si disponibles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LexHub · https://lexhub.space · ENSA Tétouan · WEBVOICE · PFA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05840"/>
            <a:ext cx="2011680" cy="2037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9260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C9A84A"/>
                </a:solidFill>
                <a:latin typeface="Calibri"/>
              </a:rPr>
              <a:t>Questions  ·  Démo live : https://lexhub.space</a:t>
            </a:r>
          </a:p>
          <a:p>
            <a:pPr algn="ctr">
              <a:spcBef>
                <a:spcPts val="1600"/>
              </a:spcBef>
            </a:pPr>
            <a:r>
              <a:rPr sz="1300" b="0">
                <a:solidFill>
                  <a:srgbClr val="A0AABE"/>
                </a:solidFill>
                <a:latin typeface="Calibri"/>
              </a:rPr>
              <a:t>Douae El Assal  ·  ENSA Tétouan  ·  WEBVOICE  ·  LexHub</a:t>
            </a:r>
          </a:p>
          <a:p>
            <a:pPr algn="ctr">
              <a:spcBef>
                <a:spcPts val="1000"/>
              </a:spcBef>
            </a:pPr>
            <a:r>
              <a:rPr sz="1100" b="0">
                <a:solidFill>
                  <a:srgbClr val="8894A8"/>
                </a:solidFill>
                <a:latin typeface="Calibri"/>
              </a:rPr>
              <a:t>Fichier : LexHub_Presentation_Soutenance.pptx  ·  lexhub.space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