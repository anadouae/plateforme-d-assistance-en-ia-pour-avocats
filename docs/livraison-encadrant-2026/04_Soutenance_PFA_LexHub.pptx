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41148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488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9A84A"/>
                </a:solidFill>
                <a:latin typeface="Calibri"/>
              </a:rPr>
              <a:t>SOUTENANCE — PROJET DE FIN D’ANNÉE</a:t>
            </a:r>
          </a:p>
          <a:p>
            <a:pPr algn="ctr">
              <a:spcBef>
                <a:spcPts val="1000"/>
              </a:spcBef>
            </a:pPr>
            <a:r>
              <a:rPr sz="4400" b="1">
                <a:solidFill>
                  <a:srgbClr val="FFFFFF"/>
                </a:solidFill>
                <a:latin typeface="Georgia"/>
              </a:rPr>
              <a:t>LexHub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C4CCD8"/>
                </a:solidFill>
                <a:latin typeface="Calibri"/>
              </a:rPr>
              <a:t>Système d’information de cabinet &amp; assistance IA
Droit marocain — dossier + plaidoirie — en production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A0AABC"/>
                </a:solidFill>
                <a:latin typeface="Calibri"/>
              </a:rPr>
              <a:t>https://lexhub.space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A0AABC"/>
                </a:solidFill>
                <a:latin typeface="Calibri"/>
              </a:rPr>
              <a:t>ENSA Tétouan  ·  WEBVOICE (Tanger)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A0AABC"/>
                </a:solidFill>
                <a:latin typeface="Calibri"/>
              </a:rPr>
              <a:t>EL ASSAL Douae  ·  Encadrant : M. Hatim BENHADDOU  ·  Tuteur : Prof. Mohammed AL ACHHAB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Plan de la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Du besoin métier au SI déployé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Cadrage &amp; problématique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Positionnement marché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7276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2763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Objectifs PFA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Acteurs &amp;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Atelier 5 étapes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51460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8072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62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Dictée &amp; correction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Urbanisation MADI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Architecture &amp; UML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49039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0416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096511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Modèle économique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Production &amp; CI/CD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Démonstration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983480"/>
            <a:ext cx="3703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5276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9A84A"/>
                </a:solidFill>
                <a:latin typeface="Georgia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33095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Bilan &amp; perspectives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1. Contexte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La plaidoirie : acte oral préparé à l’écrit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69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Réalité 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9496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Circuit artisanal : notes → dictée → ressaisie Word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Bilinguisme arabe judiciaire / français d’affaires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Secret professionnel (loi 28-08, art. 30)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Besoin : un SI de cabinet, pas un chatbot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Stage WEBVOICE (Tanger) · ENSA Tétouan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1er juil. – 31 août 2026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Livré : https://lexhub.space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5778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25272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Problématique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563624"/>
            <a:ext cx="530352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Comment concevoir et mettre en production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un SaaS multi-cabinets où 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1. l’avocat mène un atelier en 5 étapes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2. l’assistant ne voit que le validé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3. l’abonnement est opérationnel ;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4. l’IA n’invente aucun fait juridique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2. Positionnement marché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AS-IS → écart → TO-BE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566160" cy="12344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A1228"/>
                </a:solidFill>
                <a:latin typeface="Georgia"/>
              </a:rPr>
              <a:t>AS-IS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Outils en silos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66160" cy="1234440"/>
          </a:xfrm>
          <a:prstGeom prst="roundRect">
            <a:avLst/>
          </a:prstGeom>
          <a:solidFill>
            <a:srgbClr val="FDEED9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A1228"/>
                </a:solidFill>
                <a:latin typeface="Georgia"/>
              </a:rPr>
              <a:t>ÉCART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Process non uni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566160" cy="123444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71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A1228"/>
                </a:solidFill>
                <a:latin typeface="Georgia"/>
              </a:rPr>
              <a:t>TO-BE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SI LexHub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51760"/>
            <a:ext cx="3703320" cy="41148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2491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Famille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51760"/>
            <a:ext cx="3703320" cy="41148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272491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Force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51760"/>
            <a:ext cx="3703320" cy="411480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72491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Limite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154680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Gestion cabinet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154680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Dossiers / calendrier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54680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Pas d’atelier voix → acte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813048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9502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Dictée desktop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813048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39502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Transcription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13048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9502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Pas SaaS multi-tenant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471416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60857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Chatbots 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4471416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460857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Rédaction fluide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471416"/>
            <a:ext cx="3703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6448" y="4608576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Invention de faits, pas d’équipe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129784"/>
            <a:ext cx="3703320" cy="59436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26694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LexHub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5129784"/>
            <a:ext cx="3703320" cy="59436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526694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2436"/>
                </a:solidFill>
                <a:latin typeface="Calibri"/>
              </a:rPr>
              <a:t>Dossier + plaidoirie + rôles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129784"/>
            <a:ext cx="3703320" cy="59436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526694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2436"/>
                </a:solidFill>
                <a:latin typeface="Calibri"/>
              </a:rPr>
              <a:t>Déployé sur lexhub.space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3. Objectifs du PFA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Un SI de cabinet — l’IA est un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6766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6492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Objectifs livrés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6492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1. Atelier 5 étapes (dossier → export Word / PDF)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2. Espace cabinet : dossiers, pièces, équipe, planning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3. Rôles : avocat, assistant, admin cabinet, admin plateforme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4. Validation = seuil de visibilité assistant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5. Modèle d’abonnement + production réelle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143000"/>
            <a:ext cx="4480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1252728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Règle d’or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1563624"/>
            <a:ext cx="4206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Postgres = vérité métier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LLM = proposition,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jamais maître des faits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L’avocat reste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responsable du contenu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4. Acteurs &amp;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Quatre rôles — moindre privilège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6949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Avocat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0759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Dicte, corrige, rédige, valide, exporte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240280"/>
            <a:ext cx="6949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0487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Uniquement plaidoiries validées / finalisées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37560"/>
            <a:ext cx="6949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0215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Admin cabinet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0215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Équipe, abonnement, identité visuelle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34840"/>
            <a:ext cx="6949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99431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Admin plateforme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99431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Cabinets / leads — sans lecture des affaires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143000"/>
            <a:ext cx="4297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1252728"/>
            <a:ext cx="4023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Cycle de vie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1563624"/>
            <a:ext cx="402336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Brouillon → invisible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à l’assistant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Validée → visible équipe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(validation séparée)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Export → finalisée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(Word .docx / PDF)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5. Cœur produit — cinq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Dossier → pièces → rédaction → livrable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194560" cy="201168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Dossier &amp;</a:t>
            </a:r>
          </a:p>
          <a:p>
            <a:r>
              <a:rPr sz="1300" b="1">
                <a:solidFill>
                  <a:srgbClr val="0A1228"/>
                </a:solidFill>
                <a:latin typeface="Calibri"/>
              </a:rPr>
              <a:t>pièces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2194560" cy="201168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Dictée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143000"/>
            <a:ext cx="2194560" cy="201168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Correction</a:t>
            </a:r>
          </a:p>
          <a:p>
            <a:r>
              <a:rPr sz="1300" b="1">
                <a:solidFill>
                  <a:srgbClr val="0A1228"/>
                </a:solidFill>
                <a:latin typeface="Calibri"/>
              </a:rPr>
              <a:t>de forme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143000"/>
            <a:ext cx="2194560" cy="201168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Rédaction</a:t>
            </a:r>
          </a:p>
          <a:p>
            <a:r>
              <a:rPr sz="1300" b="1">
                <a:solidFill>
                  <a:srgbClr val="0A1228"/>
                </a:solidFill>
                <a:latin typeface="Calibri"/>
              </a:rPr>
              <a:t>assistée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1143000"/>
            <a:ext cx="2194560" cy="2011680"/>
          </a:xfrm>
          <a:prstGeom prst="roundRect">
            <a:avLst/>
          </a:prstGeom>
          <a:solidFill>
            <a:srgbClr val="D8F3DC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13716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9A84A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19202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Calibri"/>
              </a:rPr>
              <a:t>Export</a:t>
            </a:r>
          </a:p>
          <a:p>
            <a:r>
              <a:rPr sz="1300" b="1">
                <a:solidFill>
                  <a:srgbClr val="0A1228"/>
                </a:solidFill>
                <a:latin typeface="Calibri"/>
              </a:rPr>
              <a:t>Word / PDF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29000"/>
            <a:ext cx="11430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538728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Points clés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849624"/>
            <a:ext cx="1115568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Étape 1 : identité des parties + pièces OCR ; domaine de plaidoirie lié au dossier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Étapes 2–3 : micro Web Speech ou Whisper (Firefox inclus) ; Corriger (fautes OK) ; QCM de clarification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436"/>
                </a:solidFill>
                <a:latin typeface="Calibri"/>
              </a:rPr>
              <a:t>• Étapes 4–5 : rédaction ancrée + chat révision ; export Word .docx et PDF (armoiries, charte) ; finalisée après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6. Dictée, clarification &amp; révision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Fidélité des faits · UX claire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Capture &amp;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Micro navigateur (Web Speech) ou Whisper (Firefox)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Fichier : WAV, MP3, OGG, M4A, WebM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Détection auto FR / AR (sans changer l’UI)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Bandeau d’écoute + boutons Terminé / Annuler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Correction de forme (fusḥā)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Surlignage des substitutions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Fautes de frappe / STT approximées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Pas de faux « succès » sur du charabia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Clarification &amp;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QCM 0–5 : dossier anonymisé → LLM → avoc.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Chat révision : répond + met à jour le doc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Annuler / Modifier la requête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Remplit خامساً / لهذه الأسباب si vides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Ce que l’IA ne fait pas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Inventer faits, articles, montants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Remplacer le jugement de l’avocat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7. Urbanisation MADI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LexHub = SI de cabinet, pas « une appli IA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075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M —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30759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Dossier → Pièces → Plaidoirie → Équipe → Abonnement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A —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5059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Cases · Documents · Rédaction · Billing · Admin · IA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29000"/>
            <a:ext cx="11247120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935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D —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59359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Postgres (vérité) · MinIO (fichiers) · Redis (files)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11247120" cy="10058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365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I —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73659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Docker / VPS · Caddy TLS · OpenAI (externe)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8. Architecture déployée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SaaS multi-tenant — lexhub.space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228"/>
                </a:solidFill>
                <a:latin typeface="Georgia"/>
              </a:rPr>
              <a:t>Navigateur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Next.js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228"/>
                </a:solidFill>
                <a:latin typeface="Georgia"/>
              </a:rPr>
              <a:t>Caddy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HTTPS / TLS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14300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463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228"/>
                </a:solidFill>
                <a:latin typeface="Georgia"/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19659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Métier + RBAC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7180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228"/>
                </a:solidFill>
                <a:latin typeface="Georgia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Vérité métier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97180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91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228"/>
                </a:solidFill>
                <a:latin typeface="Georgia"/>
              </a:rPr>
              <a:t>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7947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Files / temps réel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97180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3291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1228"/>
                </a:solidFill>
                <a:latin typeface="Georgia"/>
              </a:rPr>
              <a:t>MinIO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37947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67A"/>
                </a:solidFill>
                <a:latin typeface="Calibri"/>
              </a:rPr>
              <a:t>Fichiers chiffrés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Isolation cabinet_id · RBAC (assistant ≠ brouillons) · Whisper ou Web Speech · ports BDD 127.0.0.1 · admin plateforme sans lecture des affaires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8bis. Diagrammes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Six séquences UML — sources PlantUML dans diagrams/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715000" cy="12801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Inscription OTP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request → e-mail → verify → register (Cabinet ACTIVE + essai) →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715000" cy="12801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2588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Login + Turnstile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captcha-config → login ; Turnstile après 3 échecs →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560320"/>
            <a:ext cx="5715000" cy="12801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Dictée → rédaction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79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STT → polish → clarify → compose → revise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560320"/>
            <a:ext cx="5715000" cy="12801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Validation /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79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validate / assign → WS ; export Word/PDF → finalized (UI)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77639"/>
            <a:ext cx="5715000" cy="12801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Documents 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POST /upload → MinIO → extract → extracted_text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77639"/>
            <a:ext cx="5715000" cy="128016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Georgia"/>
              </a:rPr>
              <a:t>Facturation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plans / packs → history (amount &gt; 0 MAD) → PDF facture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9. Modèle économique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Essai hybride · plans · packs · sièges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2788920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Formule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43000"/>
            <a:ext cx="2788920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Mensuel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2788920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Essai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143000"/>
            <a:ext cx="2788920" cy="438912"/>
          </a:xfrm>
          <a:prstGeom prst="roundRect">
            <a:avLst/>
          </a:prstGeom>
          <a:solidFill>
            <a:srgbClr val="0A1228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34440"/>
            <a:ext cx="2606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67335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105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Découverte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67335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8105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0 MAD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7335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105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Permanent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7335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105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Découverte produit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31343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45059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Solo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31343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45059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299 MAD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1343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45059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14 j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31343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45059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Avocat indépendant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295351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906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Cabinet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295351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30906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699 MAD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95351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0906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30 j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2953512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09067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Petite structure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3593591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73075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228"/>
                </a:solidFill>
                <a:latin typeface="Calibri"/>
              </a:rPr>
              <a:t>Entreprise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3593591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373075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1 290 MAD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593591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73075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7 j qualifié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593591"/>
            <a:ext cx="2788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373075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436"/>
                </a:solidFill>
                <a:latin typeface="Calibri"/>
              </a:rPr>
              <a:t>Cabinets structurés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389120"/>
            <a:ext cx="5623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449884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Garde-fous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4809744"/>
            <a:ext cx="5349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Essai = durée + plafond crédits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Repère IA du jour (continuer / demain)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Factures listées si amount &gt; 0 MAD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389120"/>
            <a:ext cx="56235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18504" y="449884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Croissance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8504" y="4809744"/>
            <a:ext cx="5349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Packs prépayés (abonnés actifs)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Sièges Cabinet · Parrainage confraternel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PDF facture téléchargeable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10. Production &amp;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https://lexhub.space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VPS · Docker Compose · Caddy TLS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Images frontend / backend / celery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GitHub Actions → GHCR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Sauvegardes PostgreSQL + fichiers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Atout multi-support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Même SaaS desktop + mobile (pas d’app native)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Dock tactile · rôles conservés · ~360–430 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Sécurité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JWT + OTP e-mail + Turnstile (après échecs)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Multi-tenant (cabinet_id) + RBAC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Noms masqués avant tout appel LLM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Admin plateforme : usage/plans, jamais les affaires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Dock mobile fixé ; marque LexHub (pas « Administration »)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436"/>
                </a:solidFill>
                <a:latin typeface="Calibri"/>
              </a:rPr>
              <a:t>• Adminer via tunnel SSH seulement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11. Démonstration — Accueil &amp; connexion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" y="1014983"/>
            <a:ext cx="574243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6692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7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Accueil LexHub (page publique)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14983"/>
            <a:ext cx="56509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nnex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57784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687567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Connexion sécurisée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11bis. Démonstration — Tableau de bord &amp; dossiers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" y="1014983"/>
            <a:ext cx="574243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-tableau-de-b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6692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7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Tableau de bord — dossiers, documents, essai et crédits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14983"/>
            <a:ext cx="56509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doss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57784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687567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Liste des dossiers du cabinet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11ter. Démonstration — Dossier &amp;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" y="1014983"/>
            <a:ext cx="574243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4-dossi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6692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7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Fiche dossier — identité des parties et plaidoirie liée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14983"/>
            <a:ext cx="56509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57784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687567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Espace Documents — dépôt et statut d'extraction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11quater. Démonstration — Document &amp; atelier plaidoirie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" y="1014983"/>
            <a:ext cx="574243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b-docum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6692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7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Détail document — extrait, synthèse IA et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14983"/>
            <a:ext cx="56509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4b-plaidoirie-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57784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687567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Atelier plaidoirie — étape 1 (dossier &amp; pièces)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11quinquies. Démonstration — Transcription &amp;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" y="1014983"/>
            <a:ext cx="574243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c-transcription-fus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669280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7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Transcription / correction (arabe fusḥā)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14983"/>
            <a:ext cx="56509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9-export-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57784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5687567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Export Word (.docx) / PDF de la plaidoirie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8686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11sexies. Démonstration — Équipe, activité &amp;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" y="1014983"/>
            <a:ext cx="3822191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-equ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3749039" cy="4617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7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Équipe — invitations et rôles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9663" y="1014983"/>
            <a:ext cx="3822191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3-activite-cabi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51560"/>
            <a:ext cx="3749039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0" y="5687567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Journal d'activité du cabinet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014983"/>
            <a:ext cx="3822191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2a-admin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051560"/>
            <a:ext cx="3749039" cy="4617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2440" y="5687567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A1228"/>
                </a:solidFill>
                <a:latin typeface="Calibri"/>
              </a:rPr>
              <a:t>Admin plateforme — pilotage LexHub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12.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Objectifs PFA — conformité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Atelier 5 étapes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4416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Dossier → Word /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325880"/>
            <a:ext cx="1645920" cy="411480"/>
          </a:xfrm>
          <a:prstGeom prst="round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95560" y="139903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11680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1284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SI multi-tenant +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1284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Isolation + validation assistant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194560"/>
            <a:ext cx="1645920" cy="411480"/>
          </a:xfrm>
          <a:prstGeom prst="round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226771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80360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8152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Urbanisation MADI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8152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Process / apps / données / infra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3063240"/>
            <a:ext cx="1645920" cy="411480"/>
          </a:xfrm>
          <a:prstGeom prst="round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313639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49039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50207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Modèle économique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950207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Essai, plans, packs ; factures &gt; 0 MAD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931920"/>
            <a:ext cx="1645920" cy="411480"/>
          </a:xfrm>
          <a:prstGeom prst="round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4005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617720"/>
            <a:ext cx="9326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1888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228"/>
                </a:solidFill>
                <a:latin typeface="Calibri"/>
              </a:rPr>
              <a:t>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8188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A2436"/>
                </a:solidFill>
                <a:latin typeface="Calibri"/>
              </a:rPr>
              <a:t>lexhub.space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4800600"/>
            <a:ext cx="1645920" cy="411480"/>
          </a:xfrm>
          <a:prstGeom prst="roundRect">
            <a:avLst/>
          </a:prstGeom>
          <a:solidFill>
            <a:srgbClr val="1F6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48737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100255" cy="100584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Georgia"/>
              </a:rPr>
              <a:t>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C2D4"/>
                </a:solidFill>
                <a:latin typeface="Calibri"/>
              </a:rPr>
              <a:t>Évolution produit (hors périmètre déjà livré)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Court terme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• Encaissement réel (CMI / PayZone)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• Qualité STT / relecture renforcée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43000"/>
            <a:ext cx="56235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252728"/>
            <a:ext cx="5349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228"/>
                </a:solidFill>
                <a:latin typeface="Georgia"/>
              </a:rPr>
              <a:t>Moyen terme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563624"/>
            <a:ext cx="534924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• Continuité dossier → audience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• Interopérabilités sans casser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A2436"/>
                </a:solidFill>
                <a:latin typeface="Calibri"/>
              </a:rPr>
              <a:t>  les maîtres de donnée MADI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67A"/>
                </a:solidFill>
                <a:latin typeface="Calibri"/>
              </a:rPr>
              <a:t>LexHub · SI cabinet · lexhub.space · ENSA Tétouan · WEBVOICE · PFA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67A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lex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00584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92608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Georgia"/>
              </a:rPr>
              <a:t>Merci pour votre attention</a:t>
            </a:r>
          </a:p>
          <a:p>
            <a:pPr algn="ctr">
              <a:spcBef>
                <a:spcPts val="1400"/>
              </a:spcBef>
            </a:pPr>
            <a:r>
              <a:rPr sz="1700" b="0">
                <a:solidFill>
                  <a:srgbClr val="C9A84A"/>
                </a:solidFill>
                <a:latin typeface="Calibri"/>
              </a:rPr>
              <a:t>Questions  ·  Démonstration : https://lexhub.space</a:t>
            </a:r>
          </a:p>
          <a:p>
            <a:pPr algn="ctr">
              <a:spcBef>
                <a:spcPts val="1600"/>
              </a:spcBef>
            </a:pPr>
            <a:r>
              <a:rPr sz="1300" b="0">
                <a:solidFill>
                  <a:srgbClr val="A0AABE"/>
                </a:solidFill>
                <a:latin typeface="Calibri"/>
              </a:rPr>
              <a:t>EL ASSAL Douae  ·  ENSA Tétouan  ·  WEBVOICE  ·  LexHub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