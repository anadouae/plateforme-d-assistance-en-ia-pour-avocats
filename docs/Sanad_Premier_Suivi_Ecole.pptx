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2B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2B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D2B589"/>
                </a:solidFill>
                <a:latin typeface="Georgia"/>
              </a:rPr>
              <a:t>SANAD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Georgia"/>
              </a:rPr>
              <a:t>Plateforme d’Assistance en Intelligence Artificielle pour Avocats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5F0E8"/>
                </a:solidFill>
                <a:latin typeface="Georgia"/>
              </a:rPr>
              <a:t>Premier suivi — Projet de Fin d’Année (PFA)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5F0E8"/>
                </a:solidFill>
                <a:latin typeface="Georgia"/>
              </a:rPr>
              <a:t>ENSA Tétouan  ·  Entreprise d’accueil : WebVoice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5F0E8"/>
                </a:solidFill>
                <a:latin typeface="Georgia"/>
              </a:rPr>
              <a:t>Stagiaire : Douae El Assal  ·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4A"/>
                </a:solidFill>
                <a:latin typeface="Georgia"/>
              </a:rPr>
              <a:t>Objectif de ce suivi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Présenter la problématique et l’idée Sanad de façon claire et convaincante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Mettre en valeur le cœur produit : dicter → transcrire &amp; corriger → modifier → PDF / DOC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Présenter l’ensemble des fonctionnalités de la plateforme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Synthétiser le benchmarking (marché marocain + aperçu international)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Présenter les exigences et la première implémentation des interfaces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Faire le point sur l’avancement réel et le serveur VPS ; valider la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4A"/>
                </a:solidFill>
                <a:latin typeface="Georgia"/>
              </a:rPr>
              <a:t>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1F4A"/>
                </a:solidFill>
                <a:latin typeface="Georgia"/>
              </a:rPr>
              <a:t>Même dans un cabinet organisé, le passage de la parole de l’avocat à un document de plaidoirie exploitable reste lent, manuel et peu intégré au dossier numérique.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La plaidoirie est souvent dictée ou notée, puis retravaillée / retapée hors d’un flux unique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Les outils du marché couvrent soit la gestion de cabinet, soit une dictée isolée, soit une IA générale — rarement le parcours complet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La collaboration avocat / assistant manque d’un espace commun avec droits clairs autour du même dossier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Résultat : perte de temps sur des tâches techniques, au détriment du travail juridique à forte valeur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Marché marocain (~13 000–16 000 avocats) : forte demande de digitalisation métier, encore inégale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4A"/>
                </a:solidFill>
                <a:latin typeface="Georgia"/>
              </a:rPr>
              <a:t>Solution proposée — Sanad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Sanad = plateforme web SaaS multi-cabinets pour les cabinets d’avocats marocains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Cœur produit : la plaidoirie dictée → transcrite &amp; corrigée → modifiable → export PDF / DOC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Un seul espace pour plaidoirie, dossiers, documents, synthèse, planning et équipe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L’IA accélère transcription et correction — l’avocat reste maître du texte final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Isolation par cabinet, rôles distincts (avocat / assistant / admin), traçabilité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Message produit : « Deux gestes. Tout le reste suit.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4A"/>
                </a:solidFill>
                <a:latin typeface="Georgia"/>
              </a:rPr>
              <a:t>Cœur Sanad — parcours plaidoirie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4A"/>
                </a:solidFill>
                <a:latin typeface="Georgia"/>
              </a:rPr>
              <a:t>L’avocat dicte sa plaidoirie. Sanad la transcrit et la corrige. Il peut ensuite la modifier, puis l’exporterer en PDF ou DOC.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2194560" cy="324612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9202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2B589"/>
                </a:solidFill>
                <a:latin typeface="Georgia"/>
              </a:rPr>
              <a:t>1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Dicter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5F0E8"/>
                </a:solidFill>
                <a:latin typeface="Georgia"/>
              </a:rPr>
              <a:t>Parole / micro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5F0E8"/>
                </a:solidFill>
                <a:latin typeface="Georgia"/>
              </a:rPr>
              <a:t>ou saisie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91640"/>
            <a:ext cx="21945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874519"/>
            <a:ext cx="19202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4A"/>
                </a:solidFill>
                <a:latin typeface="Georgia"/>
              </a:rPr>
              <a:t>2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0B1F4A"/>
                </a:solidFill>
                <a:latin typeface="Georgia"/>
              </a:rPr>
              <a:t>Transcrire
&amp; corriger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4A5568"/>
                </a:solidFill>
                <a:latin typeface="Georgia"/>
              </a:rPr>
              <a:t>IA : texte propre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A5568"/>
                </a:solidFill>
                <a:latin typeface="Georgia"/>
              </a:rPr>
              <a:t>sans inventer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691640"/>
            <a:ext cx="2194560" cy="324612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874519"/>
            <a:ext cx="19202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2B589"/>
                </a:solidFill>
                <a:latin typeface="Georgia"/>
              </a:rPr>
              <a:t>3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Modifier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5F0E8"/>
                </a:solidFill>
                <a:latin typeface="Georgia"/>
              </a:rPr>
              <a:t>Vérifier, ajouter,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5F0E8"/>
                </a:solidFill>
                <a:latin typeface="Georgia"/>
              </a:rPr>
              <a:t>éditer librement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691640"/>
            <a:ext cx="21945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874519"/>
            <a:ext cx="19202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4A"/>
                </a:solidFill>
                <a:latin typeface="Georgia"/>
              </a:rPr>
              <a:t>4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0B1F4A"/>
                </a:solidFill>
                <a:latin typeface="Georgia"/>
              </a:rPr>
              <a:t>Exporter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4A5568"/>
                </a:solidFill>
                <a:latin typeface="Georgia"/>
              </a:rPr>
              <a:t>PDF / Imprimer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4A5568"/>
                </a:solidFill>
                <a:latin typeface="Georgia"/>
              </a:rPr>
              <a:t>ou fichier DOC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59" y="1691640"/>
            <a:ext cx="2194560" cy="324612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1874519"/>
            <a:ext cx="19202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2B589"/>
                </a:solidFill>
                <a:latin typeface="Georgia"/>
              </a:rPr>
              <a:t>5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Classer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5F0E8"/>
                </a:solidFill>
                <a:latin typeface="Georgia"/>
              </a:rPr>
              <a:t>Dans un dossier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5F0E8"/>
                </a:solidFill>
                <a:latin typeface="Georgia"/>
              </a:rPr>
              <a:t>précis du cabinet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663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A2E"/>
                </a:solidFill>
                <a:latin typeface="Georgia"/>
              </a:rPr>
              <a:t>Point fort : ce n’est pas une dictée figée — l’avocat garde le contrôle (modification + export PDF/DOC + archivage dossier).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4A"/>
                </a:solidFill>
                <a:latin typeface="Georgia"/>
              </a:rPr>
              <a:t>Fonctionnalités de la plateforme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5532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52728"/>
            <a:ext cx="5120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4A"/>
                </a:solidFill>
                <a:latin typeface="Georgia"/>
              </a:rPr>
              <a:t>Plaidoirie (cœur)</a:t>
            </a:r>
          </a:p>
          <a:p>
            <a:r>
              <a:rPr sz="1200" b="0">
                <a:solidFill>
                  <a:srgbClr val="4A5568"/>
                </a:solidFill>
                <a:latin typeface="Georgia"/>
              </a:rPr>
              <a:t>Dicter → corriger → modifier → PDF/DOC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51560"/>
            <a:ext cx="5532120" cy="109728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52728"/>
            <a:ext cx="5120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2B589"/>
                </a:solidFill>
                <a:latin typeface="Georgia"/>
              </a:rPr>
              <a:t>Dossiers</a:t>
            </a:r>
          </a:p>
          <a:p>
            <a:r>
              <a:rPr sz="1200" b="0">
                <a:solidFill>
                  <a:srgbClr val="F5F0E8"/>
                </a:solidFill>
                <a:latin typeface="Georgia"/>
              </a:rPr>
              <a:t>Affaires, historique, rattachement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532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5120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4A"/>
                </a:solidFill>
                <a:latin typeface="Georgia"/>
              </a:rPr>
              <a:t>Documents</a:t>
            </a:r>
          </a:p>
          <a:p>
            <a:r>
              <a:rPr sz="1200" b="0">
                <a:solidFill>
                  <a:srgbClr val="4A5568"/>
                </a:solidFill>
                <a:latin typeface="Georgia"/>
              </a:rPr>
              <a:t>Upload, OCR, pièces du dossier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532120" cy="109728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87168"/>
            <a:ext cx="5120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2B589"/>
                </a:solidFill>
                <a:latin typeface="Georgia"/>
              </a:rPr>
              <a:t>Synthèse</a:t>
            </a:r>
          </a:p>
          <a:p>
            <a:r>
              <a:rPr sz="1200" b="0">
                <a:solidFill>
                  <a:srgbClr val="F5F0E8"/>
                </a:solidFill>
                <a:latin typeface="Georgia"/>
              </a:rPr>
              <a:t>Résumé des pièces à la demande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0440"/>
            <a:ext cx="5532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21608"/>
            <a:ext cx="5120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4A"/>
                </a:solidFill>
                <a:latin typeface="Georgia"/>
              </a:rPr>
              <a:t>Planning</a:t>
            </a:r>
          </a:p>
          <a:p>
            <a:r>
              <a:rPr sz="1200" b="0">
                <a:solidFill>
                  <a:srgbClr val="4A5568"/>
                </a:solidFill>
                <a:latin typeface="Georgia"/>
              </a:rPr>
              <a:t>Audiences &amp; délais liés au dossier / plaidoirie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520440"/>
            <a:ext cx="5532120" cy="109728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721608"/>
            <a:ext cx="5120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2B589"/>
                </a:solidFill>
                <a:latin typeface="Georgia"/>
              </a:rPr>
              <a:t>Équipe</a:t>
            </a:r>
          </a:p>
          <a:p>
            <a:r>
              <a:rPr sz="1200" b="0">
                <a:solidFill>
                  <a:srgbClr val="F5F0E8"/>
                </a:solidFill>
                <a:latin typeface="Georgia"/>
              </a:rPr>
              <a:t>Rôles avocat / assistant / 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54880"/>
            <a:ext cx="5532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56048"/>
            <a:ext cx="5120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4A"/>
                </a:solidFill>
                <a:latin typeface="Georgia"/>
              </a:rPr>
              <a:t>Sécurité</a:t>
            </a:r>
          </a:p>
          <a:p>
            <a:r>
              <a:rPr sz="1200" b="0">
                <a:solidFill>
                  <a:srgbClr val="4A5568"/>
                </a:solidFill>
                <a:latin typeface="Georgia"/>
              </a:rPr>
              <a:t>Multi-tenant, auth, chiffrement (en consolidation)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754880"/>
            <a:ext cx="5532120" cy="109728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956048"/>
            <a:ext cx="5120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2B589"/>
                </a:solidFill>
                <a:latin typeface="Georgia"/>
              </a:rPr>
              <a:t>Multilingue</a:t>
            </a:r>
          </a:p>
          <a:p>
            <a:r>
              <a:rPr sz="1200" b="0">
                <a:solidFill>
                  <a:srgbClr val="F5F0E8"/>
                </a:solidFill>
                <a:latin typeface="Georgia"/>
              </a:rPr>
              <a:t>Interfaces en français, arabe et anglais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4A"/>
                </a:solidFill>
                <a:latin typeface="Georgia"/>
              </a:rPr>
              <a:t>Exigences fonctionnelles (synthèse)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Accès &amp; comptes : inscription cabinet, connexion sécurisée, rôles, invitations d’équipe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Plaidoirie (priorité) : dictée → transcription &amp; correction → modification par l’avocat → export PDF ou DOC → classement dossier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Dossiers &amp; documents : création/suivi des affaires, dépôt des pièces, OCR, synthèse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Planning : audiences, délais et tâches rattachés aux dossiers (préparation de plaidoirie)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Collaboration : avocat (dicter, modifier, exporter) / assistant (consulter, préparer pièces, exporter) / admin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Sécurité &amp; isolation : espaces séparés par cabinet (renforcement en cours)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Expérience utilisateur : site public + espace cabinet connecté ; langues FR, AR, 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4A"/>
                </a:solidFill>
                <a:latin typeface="Georgia"/>
              </a:rPr>
              <a:t>Benchmarking — marché marocain (schéma)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5568"/>
                </a:solidFill>
                <a:latin typeface="Georgia"/>
              </a:rPr>
              <a:t>Plateforme (lien) → offre principale → limite face au besoin Sanad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80160"/>
            <a:ext cx="1600200" cy="141732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371600"/>
            <a:ext cx="1508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2B589"/>
                </a:solidFill>
                <a:latin typeface="Georgia"/>
              </a:rPr>
              <a:t>SmartAvocat</a:t>
            </a:r>
          </a:p>
          <a:p>
            <a:r>
              <a:rPr sz="800" b="0">
                <a:solidFill>
                  <a:srgbClr val="F5F0E8"/>
                </a:solidFill>
                <a:latin typeface="Georgia"/>
              </a:rPr>
              <a:t>smartavocat.ma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834640"/>
            <a:ext cx="1600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92608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Georgia"/>
              </a:rPr>
              <a:t>Gestion cabinet</a:t>
            </a:r>
          </a:p>
          <a:p>
            <a:r>
              <a:rPr sz="900" b="0">
                <a:solidFill>
                  <a:srgbClr val="1A1A2E"/>
                </a:solidFill>
                <a:latin typeface="Georgia"/>
              </a:rPr>
              <a:t>Dossiers · bilingue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343400"/>
            <a:ext cx="1600200" cy="1234440"/>
          </a:xfrm>
          <a:prstGeom prst="roundRect">
            <a:avLst/>
          </a:prstGeom>
          <a:solidFill>
            <a:srgbClr val="F5F0E8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4434840"/>
            <a:ext cx="14630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A5568"/>
                </a:solidFill>
                <a:latin typeface="Georgia"/>
              </a:rPr>
              <a:t>Pas de flux</a:t>
            </a:r>
          </a:p>
          <a:p>
            <a:r>
              <a:rPr sz="900" b="0">
                <a:solidFill>
                  <a:srgbClr val="4A5568"/>
                </a:solidFill>
                <a:latin typeface="Georgia"/>
              </a:rPr>
              <a:t>plaidoirie vocale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1280160"/>
            <a:ext cx="1600200" cy="141732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371600"/>
            <a:ext cx="1508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2B589"/>
                </a:solidFill>
                <a:latin typeface="Georgia"/>
              </a:rPr>
              <a:t>Avocato</a:t>
            </a:r>
          </a:p>
          <a:p>
            <a:r>
              <a:rPr sz="800" b="0">
                <a:solidFill>
                  <a:srgbClr val="F5F0E8"/>
                </a:solidFill>
                <a:latin typeface="Georgia"/>
              </a:rPr>
              <a:t>avocato.ma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834640"/>
            <a:ext cx="1600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2" y="292608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Georgia"/>
              </a:rPr>
              <a:t>Gestion + Mahakim</a:t>
            </a:r>
          </a:p>
          <a:p>
            <a:r>
              <a:rPr sz="900" b="0">
                <a:solidFill>
                  <a:srgbClr val="1A1A2E"/>
                </a:solidFill>
                <a:latin typeface="Georgia"/>
              </a:rPr>
              <a:t>Audiences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343400"/>
            <a:ext cx="1600200" cy="1234440"/>
          </a:xfrm>
          <a:prstGeom prst="roundRect">
            <a:avLst/>
          </a:prstGeom>
          <a:solidFill>
            <a:srgbClr val="F5F0E8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4434840"/>
            <a:ext cx="14630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A5568"/>
                </a:solidFill>
                <a:latin typeface="Georgia"/>
              </a:rPr>
              <a:t>Pas dictée →</a:t>
            </a:r>
          </a:p>
          <a:p>
            <a:r>
              <a:rPr sz="900" b="0">
                <a:solidFill>
                  <a:srgbClr val="4A5568"/>
                </a:solidFill>
                <a:latin typeface="Georgia"/>
              </a:rPr>
              <a:t>document métier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1280160"/>
            <a:ext cx="1600200" cy="141732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1371600"/>
            <a:ext cx="1508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2B589"/>
                </a:solidFill>
                <a:latin typeface="Georgia"/>
              </a:rPr>
              <a:t>AvocatPro</a:t>
            </a:r>
          </a:p>
          <a:p>
            <a:r>
              <a:rPr sz="800" b="0">
                <a:solidFill>
                  <a:srgbClr val="F5F0E8"/>
                </a:solidFill>
                <a:latin typeface="Georgia"/>
              </a:rPr>
              <a:t>avocatpro.ma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2834640"/>
            <a:ext cx="1600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2" y="292608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Georgia"/>
              </a:rPr>
              <a:t>Gestion + Mahakim</a:t>
            </a:r>
          </a:p>
          <a:p>
            <a:r>
              <a:rPr sz="900" b="0">
                <a:solidFill>
                  <a:srgbClr val="1A1A2E"/>
                </a:solidFill>
                <a:latin typeface="Georgia"/>
              </a:rPr>
              <a:t>Organisation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343400"/>
            <a:ext cx="1600200" cy="1234440"/>
          </a:xfrm>
          <a:prstGeom prst="roundRect">
            <a:avLst/>
          </a:prstGeom>
          <a:solidFill>
            <a:srgbClr val="F5F0E8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76472" y="4434840"/>
            <a:ext cx="14630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A5568"/>
                </a:solidFill>
                <a:latin typeface="Georgia"/>
              </a:rPr>
              <a:t>Pas cœur</a:t>
            </a:r>
          </a:p>
          <a:p>
            <a:r>
              <a:rPr sz="900" b="0">
                <a:solidFill>
                  <a:srgbClr val="4A5568"/>
                </a:solidFill>
                <a:latin typeface="Georgia"/>
              </a:rPr>
              <a:t>plaidoirie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1280160"/>
            <a:ext cx="1600200" cy="141732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1371600"/>
            <a:ext cx="1508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2B589"/>
                </a:solidFill>
                <a:latin typeface="Georgia"/>
              </a:rPr>
              <a:t>Legaliq</a:t>
            </a:r>
          </a:p>
          <a:p>
            <a:r>
              <a:rPr sz="800" b="0">
                <a:solidFill>
                  <a:srgbClr val="F5F0E8"/>
                </a:solidFill>
                <a:latin typeface="Georgia"/>
              </a:rPr>
              <a:t>legaliq.ma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2834640"/>
            <a:ext cx="1600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8112" y="292608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Georgia"/>
              </a:rPr>
              <a:t>IA juridique /</a:t>
            </a:r>
          </a:p>
          <a:p>
            <a:r>
              <a:rPr sz="900" b="0">
                <a:solidFill>
                  <a:srgbClr val="1A1A2E"/>
                </a:solidFill>
                <a:latin typeface="Georgia"/>
              </a:rPr>
              <a:t>fiscale · docs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4343400"/>
            <a:ext cx="1600200" cy="1234440"/>
          </a:xfrm>
          <a:prstGeom prst="roundRect">
            <a:avLst/>
          </a:prstGeom>
          <a:solidFill>
            <a:srgbClr val="F5F0E8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68112" y="4434840"/>
            <a:ext cx="14630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A5568"/>
                </a:solidFill>
                <a:latin typeface="Georgia"/>
              </a:rPr>
              <a:t>Pas SaaS cabinet</a:t>
            </a:r>
          </a:p>
          <a:p>
            <a:r>
              <a:rPr sz="900" b="0">
                <a:solidFill>
                  <a:srgbClr val="4A5568"/>
                </a:solidFill>
                <a:latin typeface="Georgia"/>
              </a:rPr>
              <a:t>complet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1280160"/>
            <a:ext cx="1600200" cy="141732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1371600"/>
            <a:ext cx="1508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2B589"/>
                </a:solidFill>
                <a:latin typeface="Georgia"/>
              </a:rPr>
              <a:t>Kanoun</a:t>
            </a:r>
          </a:p>
          <a:p>
            <a:r>
              <a:rPr sz="800" b="0">
                <a:solidFill>
                  <a:srgbClr val="F5F0E8"/>
                </a:solidFill>
                <a:latin typeface="Georgia"/>
              </a:rPr>
              <a:t>kanoun.com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600" y="2834640"/>
            <a:ext cx="1600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9752" y="292608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Georgia"/>
              </a:rPr>
              <a:t>IA droit MA</a:t>
            </a:r>
          </a:p>
          <a:p>
            <a:r>
              <a:rPr sz="900" b="0">
                <a:solidFill>
                  <a:srgbClr val="1A1A2E"/>
                </a:solidFill>
                <a:latin typeface="Georgia"/>
              </a:rPr>
              <a:t>+ OHADA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86600" y="4343400"/>
            <a:ext cx="1600200" cy="1234440"/>
          </a:xfrm>
          <a:prstGeom prst="roundRect">
            <a:avLst/>
          </a:prstGeom>
          <a:solidFill>
            <a:srgbClr val="F5F0E8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59752" y="4434840"/>
            <a:ext cx="14630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A5568"/>
                </a:solidFill>
                <a:latin typeface="Georgia"/>
              </a:rPr>
              <a:t>Pas multi-tenant</a:t>
            </a:r>
          </a:p>
          <a:p>
            <a:r>
              <a:rPr sz="900" b="0">
                <a:solidFill>
                  <a:srgbClr val="4A5568"/>
                </a:solidFill>
                <a:latin typeface="Georgia"/>
              </a:rPr>
              <a:t>cabinet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1280160"/>
            <a:ext cx="1600200" cy="141732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1371600"/>
            <a:ext cx="1508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2B589"/>
                </a:solidFill>
                <a:latin typeface="Georgia"/>
              </a:rPr>
              <a:t>Adala</a:t>
            </a:r>
          </a:p>
          <a:p>
            <a:r>
              <a:rPr sz="800" b="0">
                <a:solidFill>
                  <a:srgbClr val="F5F0E8"/>
                </a:solidFill>
                <a:latin typeface="Georgia"/>
              </a:rPr>
              <a:t>adala.ai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2834640"/>
            <a:ext cx="1600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51392" y="292608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Georgia"/>
              </a:rPr>
              <a:t>Assistant IA</a:t>
            </a:r>
          </a:p>
          <a:p>
            <a:r>
              <a:rPr sz="900" b="0">
                <a:solidFill>
                  <a:srgbClr val="1A1A2E"/>
                </a:solidFill>
                <a:latin typeface="Georgia"/>
              </a:rPr>
              <a:t>Q&amp;R · docs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4343400"/>
            <a:ext cx="1600200" cy="1234440"/>
          </a:xfrm>
          <a:prstGeom prst="roundRect">
            <a:avLst/>
          </a:prstGeom>
          <a:solidFill>
            <a:srgbClr val="F5F0E8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51392" y="4434840"/>
            <a:ext cx="14630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A5568"/>
                </a:solidFill>
                <a:latin typeface="Georgia"/>
              </a:rPr>
              <a:t>Pas équipe</a:t>
            </a:r>
          </a:p>
          <a:p>
            <a:r>
              <a:rPr sz="900" b="0">
                <a:solidFill>
                  <a:srgbClr val="4A5568"/>
                </a:solidFill>
                <a:latin typeface="Georgia"/>
              </a:rPr>
              <a:t>cabinet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69880" y="1280160"/>
            <a:ext cx="1600200" cy="141732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0" y="1371600"/>
            <a:ext cx="1508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2B589"/>
                </a:solidFill>
                <a:latin typeface="Georgia"/>
              </a:rPr>
              <a:t>Dragon Legal</a:t>
            </a:r>
          </a:p>
          <a:p>
            <a:r>
              <a:rPr sz="800" b="0">
                <a:solidFill>
                  <a:srgbClr val="F5F0E8"/>
                </a:solidFill>
                <a:latin typeface="Georgia"/>
              </a:rPr>
              <a:t>diskod.ma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69880" y="2834640"/>
            <a:ext cx="1600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43032" y="292608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Georgia"/>
              </a:rPr>
              <a:t>Dictée desktop</a:t>
            </a:r>
          </a:p>
          <a:p>
            <a:r>
              <a:rPr sz="900" b="0">
                <a:solidFill>
                  <a:srgbClr val="1A1A2E"/>
                </a:solidFill>
                <a:latin typeface="Georgia"/>
              </a:rPr>
              <a:t>(Nuance)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69880" y="4343400"/>
            <a:ext cx="1600200" cy="1234440"/>
          </a:xfrm>
          <a:prstGeom prst="roundRect">
            <a:avLst/>
          </a:prstGeom>
          <a:solidFill>
            <a:srgbClr val="F5F0E8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43032" y="4434840"/>
            <a:ext cx="14630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A5568"/>
                </a:solidFill>
                <a:latin typeface="Georgia"/>
              </a:rPr>
              <a:t>Pas SaaS ni</a:t>
            </a:r>
          </a:p>
          <a:p>
            <a:r>
              <a:rPr sz="900" b="0">
                <a:solidFill>
                  <a:srgbClr val="4A5568"/>
                </a:solidFill>
                <a:latin typeface="Georgia"/>
              </a:rPr>
              <a:t>dossier Sanad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7150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8"/>
                </a:solidFill>
                <a:latin typeface="Georgia"/>
              </a:rPr>
              <a:t>Ligne 1 = plateforme + site  ·  Ligne 2 = services offerts  ·  Ligne 3 = ce qui manque par rapport à Sanad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4A"/>
                </a:solidFill>
                <a:latin typeface="Georgia"/>
              </a:rPr>
              <a:t>Résultat du benchmark — où se place Sanad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Au Maroc aujourd’hui : soit des logiciels de gestion de cabinet (dossiers, Mahakim), soit des IA juridiques générales, soit une dictée desktop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Ce qui manque : un SaaS qui relie dictée → transcription/correction → modification → PDF/DOC → dossier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Sanad vise exactement cet espace : plateforme cabinet + cœur plaidoirie éditable &amp; exportable + collaboration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À l’international (aperçu) : dictée Word/OS ou LegalTech généralistes — rarement adaptés au cabinet marocain bilingue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En une phrase : Sanad ne concurrence pas « une IA de plus », il comble le manque d’un flux métier intégré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892040"/>
            <a:ext cx="10972800" cy="123444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2B589"/>
                </a:solidFill>
                <a:latin typeface="Georgia"/>
              </a:rPr>
              <a:t>Sanad = Dicter → Corriger → Modifier → PDF/DOC + Dossiers + Équipe</a:t>
            </a:r>
          </a:p>
          <a:p>
            <a:r>
              <a:rPr sz="1100" b="0">
                <a:solidFill>
                  <a:srgbClr val="F5F0E8"/>
                </a:solidFill>
                <a:latin typeface="Georgia"/>
              </a:rPr>
              <a:t>Sources sites : smartavocat.ma · avocato.ma · avocatpro.ma · legaliq.ma · kanoun.com · adala.ai · diskod.ma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4A"/>
                </a:solidFill>
                <a:latin typeface="Georgia"/>
              </a:rPr>
              <a:t>Espaces distincts — Avocat &amp;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394960" cy="4754880"/>
          </a:xfrm>
          <a:prstGeom prst="roundRect">
            <a:avLst/>
          </a:prstGeom>
          <a:solidFill>
            <a:srgbClr val="0B1F4A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097280"/>
            <a:ext cx="53949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2B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49377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2B589"/>
                </a:solidFill>
                <a:latin typeface="Georgia"/>
              </a:rPr>
              <a:t>Espace Avocat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F5F0E8"/>
                </a:solidFill>
                <a:latin typeface="Georgia"/>
              </a:rPr>
              <a:t>•  Dicte la plaidoirie (micro / texte)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F5F0E8"/>
                </a:solidFill>
                <a:latin typeface="Georgia"/>
              </a:rPr>
              <a:t>•  Voit le texte transcrit &amp; corrigé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F5F0E8"/>
                </a:solidFill>
                <a:latin typeface="Georgia"/>
              </a:rPr>
              <a:t>•  Modifie, ajoute, vérifie librement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F5F0E8"/>
                </a:solidFill>
                <a:latin typeface="Georgia"/>
              </a:rPr>
              <a:t>•  Exporte en PDF ou DOC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F5F0E8"/>
                </a:solidFill>
                <a:latin typeface="Georgia"/>
              </a:rPr>
              <a:t>•  Classe dans un dossier précis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325880"/>
            <a:ext cx="49377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F4A"/>
                </a:solidFill>
                <a:latin typeface="Georgia"/>
              </a:rPr>
              <a:t>Espace Assistant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1A1A2E"/>
                </a:solidFill>
                <a:latin typeface="Georgia"/>
              </a:rPr>
              <a:t>•  Consulte les plaidoiries réalisées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1A1A2E"/>
                </a:solidFill>
                <a:latin typeface="Georgia"/>
              </a:rPr>
              <a:t>•  Peut imprimer / exporter PDF ou DOC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1A1A2E"/>
                </a:solidFill>
                <a:latin typeface="Georgia"/>
              </a:rPr>
              <a:t>•  Prépare et classe les pièces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1A1A2E"/>
                </a:solidFill>
                <a:latin typeface="Georgia"/>
              </a:rPr>
              <a:t>•  Suit échéances / planning du dossier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1A1A2E"/>
                </a:solidFill>
                <a:latin typeface="Georgia"/>
              </a:rPr>
              <a:t>•  Ne dicte pas à la place de l’avocat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4A"/>
                </a:solidFill>
                <a:latin typeface="Georgia"/>
              </a:rPr>
              <a:t>Première implémentation UI — site public</a:t>
            </a:r>
          </a:p>
        </p:txBody>
      </p:sp>
      <p:pic>
        <p:nvPicPr>
          <p:cNvPr id="5" name="Picture 4" descr="01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566160" cy="45369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4360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F4A"/>
                </a:solidFill>
                <a:latin typeface="Georgia"/>
              </a:rPr>
              <a:t>Accueil</a:t>
            </a:r>
          </a:p>
        </p:txBody>
      </p:sp>
      <p:pic>
        <p:nvPicPr>
          <p:cNvPr id="7" name="Picture 6" descr="02-connex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51560"/>
            <a:ext cx="3566160" cy="2228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0520" y="594360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F4A"/>
                </a:solidFill>
                <a:latin typeface="Georgia"/>
              </a:rPr>
              <a:t>Connexion</a:t>
            </a:r>
          </a:p>
        </p:txBody>
      </p:sp>
      <p:pic>
        <p:nvPicPr>
          <p:cNvPr id="9" name="Picture 8" descr="03-inscrip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051560"/>
            <a:ext cx="3566160" cy="2228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594360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F4A"/>
                </a:solidFill>
                <a:latin typeface="Georgia"/>
              </a:rPr>
              <a:t>Inscription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UI — cœur métier (plaidoirie mise en avant)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A5568"/>
                </a:solidFill>
                <a:latin typeface="Georgia"/>
              </a:rPr>
              <a:t>Écran Plaidoirie : Dicter → Transcrire &amp; corriger → Modifier → Exporter PDF / DOC → Classer</a:t>
            </a:r>
          </a:p>
        </p:txBody>
      </p:sp>
      <p:pic>
        <p:nvPicPr>
          <p:cNvPr id="6" name="Picture 5" descr="10-tableau-de-b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2834640" cy="1771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98932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F4A"/>
                </a:solidFill>
                <a:latin typeface="Georgia"/>
              </a:rPr>
              <a:t>Tableau de bord</a:t>
            </a:r>
          </a:p>
        </p:txBody>
      </p:sp>
      <p:pic>
        <p:nvPicPr>
          <p:cNvPr id="8" name="Picture 7" descr="14-plaidoi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34440"/>
            <a:ext cx="2834640" cy="1771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91840" y="598932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F4A"/>
                </a:solidFill>
                <a:latin typeface="Georgia"/>
              </a:rPr>
              <a:t>Plaidoirie · dicter / corriger / PDF-DOC</a:t>
            </a:r>
          </a:p>
        </p:txBody>
      </p:sp>
      <p:pic>
        <p:nvPicPr>
          <p:cNvPr id="10" name="Picture 9" descr="11-dossi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34440"/>
            <a:ext cx="2834640" cy="1771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98932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F4A"/>
                </a:solidFill>
                <a:latin typeface="Georgia"/>
              </a:rPr>
              <a:t>Dossiers</a:t>
            </a:r>
          </a:p>
        </p:txBody>
      </p:sp>
      <p:pic>
        <p:nvPicPr>
          <p:cNvPr id="12" name="Picture 11" descr="13-docu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234440"/>
            <a:ext cx="2834640" cy="1771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35440" y="598932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F4A"/>
                </a:solidFill>
                <a:latin typeface="Georgia"/>
              </a:rPr>
              <a:t>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UI — Planning (lié à la plaidoirie), Équipe, Paramètres</a:t>
            </a:r>
          </a:p>
        </p:txBody>
      </p:sp>
      <p:pic>
        <p:nvPicPr>
          <p:cNvPr id="5" name="Picture 4" descr="15-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2834640" cy="1771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598932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F4A"/>
                </a:solidFill>
                <a:latin typeface="Georgia"/>
              </a:rPr>
              <a:t>Planning · dossiers / échéances</a:t>
            </a:r>
          </a:p>
        </p:txBody>
      </p:sp>
      <p:pic>
        <p:nvPicPr>
          <p:cNvPr id="7" name="Picture 6" descr="16-equ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051560"/>
            <a:ext cx="2834640" cy="1771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91840" y="598932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F4A"/>
                </a:solidFill>
                <a:latin typeface="Georgia"/>
              </a:rPr>
              <a:t>Équipe · avatars &amp; rôles</a:t>
            </a:r>
          </a:p>
        </p:txBody>
      </p:sp>
      <p:pic>
        <p:nvPicPr>
          <p:cNvPr id="9" name="Picture 8" descr="17-paramet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51560"/>
            <a:ext cx="2834640" cy="1771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598932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F4A"/>
                </a:solidFill>
                <a:latin typeface="Georgia"/>
              </a:rPr>
              <a:t>Paramètres cabinet</a:t>
            </a:r>
          </a:p>
        </p:txBody>
      </p:sp>
      <p:pic>
        <p:nvPicPr>
          <p:cNvPr id="11" name="Picture 10" descr="06-secur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051560"/>
            <a:ext cx="2834640" cy="262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35440" y="598932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F4A"/>
                </a:solidFill>
                <a:latin typeface="Georgia"/>
              </a:rPr>
              <a:t>Page Sécurité (public)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4A"/>
                </a:solidFill>
                <a:latin typeface="Georgia"/>
              </a:rPr>
              <a:t>Architecture principale</a:t>
            </a:r>
          </a:p>
        </p:txBody>
      </p:sp>
      <p:pic>
        <p:nvPicPr>
          <p:cNvPr id="5" name="Picture 4" descr="01-architecture-princip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8843529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Schémas — parcours plaidoirie &amp; couches</a:t>
            </a:r>
          </a:p>
        </p:txBody>
      </p:sp>
      <p:pic>
        <p:nvPicPr>
          <p:cNvPr id="5" name="Picture 4" descr="02-parcours-plaidoi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760720" cy="3114959"/>
          </a:xfrm>
          <a:prstGeom prst="rect">
            <a:avLst/>
          </a:prstGeom>
        </p:spPr>
      </p:pic>
      <p:pic>
        <p:nvPicPr>
          <p:cNvPr id="6" name="Picture 5" descr="05-couches-techniq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60120"/>
            <a:ext cx="5577840" cy="328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4A"/>
                </a:solidFill>
                <a:latin typeface="Georgia"/>
              </a:rPr>
              <a:t>Base de données — vue d’ensemble</a:t>
            </a:r>
          </a:p>
        </p:txBody>
      </p:sp>
      <p:pic>
        <p:nvPicPr>
          <p:cNvPr id="5" name="Picture 4" descr="04-modele-donn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8083296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4A"/>
                </a:solidFill>
                <a:latin typeface="Georgia"/>
              </a:rPr>
              <a:t>Documentation technique livrée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01-interfaces-application.md — description claire de tous les écrans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02-document-conception.md — conception + diagrammes architecture / parcours / rôles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03-base-de-donnees.md — tables, colonnes, MinIO, règles multi-tenant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diagrammes/ — schémas PNG (architecture, plaidoirie, rôles, MCD, couches)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maquettes/ — captures d’écran UI intégrées à cette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4A"/>
                </a:solidFill>
                <a:latin typeface="Georgia"/>
              </a:rPr>
              <a:t>État d’avancement (réaliste)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Statut : première implémentation des exigences principales — le projet n’est pas terminé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En place : parcours plaidoirie (dictée, correction, édition, export PDF/DOC, classement dossier) + dossiers / docs / équipe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En cours : tests, corrections, consolidation UX, fiabilisation transcription / correction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À renforcer : sécurité avancée, hardening, qualité transcription, déploiement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VPS Debian : clé SSH générée et transmise ; accès réseau encore en cours de validation avec l’entreprise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Georgia"/>
              </a:rPr>
              <a:t>•  Méthode : itérations avec l’encadrant entreprise — on ajuste au fur et à mesure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4A"/>
                </a:solidFill>
                <a:latin typeface="Georgia"/>
              </a:rP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Fiabiliser le parcours : dicter → corriger → modifier → PDF/DOC → dossier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Renforcer synthèse des pièces et lien dossier ↔ planning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Déployer sur VPS dès que l’accès SSH est confirmé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Préparer une démo courte du flux plaidoirie pour le prochain suivi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Avancer documentation / rapport PFA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2E"/>
                </a:solidFill>
                <a:latin typeface="Georgia"/>
              </a:rPr>
              <a:t>•  Intégrer vos retours d’aujourd’hui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Georgia"/>
              </a:rPr>
              <a:t>Sanad · Premier suivi PFA · ENSA Tétouan · WebVoice · Douae El Assal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2B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2B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2B589"/>
                </a:solidFill>
                <a:latin typeface="Georgia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Georgia"/>
              </a:rPr>
              <a:t>•  Cœur Sanad : l’avocat dicte → le texte est transcrit et corrigé → il modifie → il exporte en PDF ou DOC.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Georgia"/>
              </a:rPr>
              <a:t>•  Ce n’est pas une IA isolée : c’est un flux métier intégré au dossier et à l’équipe.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Georgia"/>
              </a:rPr>
              <a:t>•  Le benchmark confirme ce manque sur le marché marocain — Sanad le vise explicitement.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Georgia"/>
              </a:rPr>
              <a:t>•  Première implémentation en place ; la consolidation et le déploiement continuent.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2B589"/>
                </a:solidFill>
                <a:latin typeface="Georgia"/>
              </a:rPr>
              <a:t>Je suis prête à répondre à vos questions et à intégrer vos remarques.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