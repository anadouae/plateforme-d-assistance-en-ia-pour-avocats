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lex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411480"/>
            <a:ext cx="2011680" cy="2011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1488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9A84A"/>
                </a:solidFill>
                <a:latin typeface="Calibri"/>
              </a:rPr>
              <a:t>SOUTENANCE — PROJET DE FIN D’ANNÉE</a:t>
            </a:r>
          </a:p>
          <a:p>
            <a:pPr algn="ctr">
              <a:spcBef>
                <a:spcPts val="1000"/>
              </a:spcBef>
            </a:pPr>
            <a:r>
              <a:rPr sz="4400" b="1">
                <a:solidFill>
                  <a:srgbClr val="FFFFFF"/>
                </a:solidFill>
                <a:latin typeface="Georgia"/>
              </a:rPr>
              <a:t>LexHub</a:t>
            </a:r>
          </a:p>
          <a:p>
            <a:pPr algn="ctr">
              <a:spcBef>
                <a:spcPts val="800"/>
              </a:spcBef>
            </a:pPr>
            <a:r>
              <a:rPr sz="1500" b="0">
                <a:solidFill>
                  <a:srgbClr val="C4CCD8"/>
                </a:solidFill>
                <a:latin typeface="Calibri"/>
              </a:rPr>
              <a:t>Système d’information de cabinet &amp; assistance IA
Droit marocain — dossier + plaidoirie — en production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A0AABC"/>
                </a:solidFill>
                <a:latin typeface="Calibri"/>
              </a:rPr>
              <a:t>https://lexhub.space</a:t>
            </a:r>
          </a:p>
          <a:p>
            <a:pPr algn="ctr">
              <a:spcBef>
                <a:spcPts val="600"/>
              </a:spcBef>
            </a:pPr>
            <a:r>
              <a:rPr sz="1300" b="0">
                <a:solidFill>
                  <a:srgbClr val="A0AABC"/>
                </a:solidFill>
                <a:latin typeface="Calibri"/>
              </a:rPr>
              <a:t>ENSA Tétouan  ·  WEBVOICE (Tanger)</a:t>
            </a:r>
          </a:p>
          <a:p>
            <a:pPr algn="ctr">
              <a:spcBef>
                <a:spcPts val="600"/>
              </a:spcBef>
            </a:pPr>
            <a:r>
              <a:rPr sz="1200" b="0">
                <a:solidFill>
                  <a:srgbClr val="A0AABC"/>
                </a:solidFill>
                <a:latin typeface="Calibri"/>
              </a:rPr>
              <a:t>EL ASSAL Douae  ·  Encadrant : M. Hatim BENHADDOU  ·  Tuteur : Prof. Mohammed AL ACHHAB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Plan de la soutenance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Du besoin métier au SI déployé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3703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7276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84A"/>
                </a:solidFill>
                <a:latin typeface="Georg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627631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Cadrage &amp; problématique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280160"/>
            <a:ext cx="3703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6552" y="157276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84A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627631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Positionnement marché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280160"/>
            <a:ext cx="3703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57276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84A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1627631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Objectifs PFA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514600"/>
            <a:ext cx="3703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0720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84A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62072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Acteurs &amp; RBAC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60" y="2514600"/>
            <a:ext cx="3703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280720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84A"/>
                </a:solidFill>
                <a:latin typeface="Georgia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862072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Atelier 5 étapes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2514600"/>
            <a:ext cx="3703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2752" y="280720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84A"/>
                </a:solidFill>
                <a:latin typeface="Georgia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2862072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Dictée &amp; correction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749039"/>
            <a:ext cx="3703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404164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84A"/>
                </a:solidFill>
                <a:latin typeface="Georgia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096511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Urbanisation MADI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3749039"/>
            <a:ext cx="3703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6552" y="404164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84A"/>
                </a:solidFill>
                <a:latin typeface="Georgia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4096511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Architecture &amp; UML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749039"/>
            <a:ext cx="3703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2752" y="404164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84A"/>
                </a:solidFill>
                <a:latin typeface="Georgia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4096511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Modèle économique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4983480"/>
            <a:ext cx="3703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5276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84A"/>
                </a:solidFill>
                <a:latin typeface="Georgia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5330952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Production &amp; CI/CD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51960" y="4983480"/>
            <a:ext cx="3703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16552" y="5276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84A"/>
                </a:solidFill>
                <a:latin typeface="Georgia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5330952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Démonstration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38160" y="4983480"/>
            <a:ext cx="37033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527608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84A"/>
                </a:solidFill>
                <a:latin typeface="Georgia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06840" y="5330952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Bilan &amp; perspectives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1. Contexte métier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La plaidoirie : acte oral préparé à l’écrit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5669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252728"/>
            <a:ext cx="5394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Réalité 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563624"/>
            <a:ext cx="5394960" cy="440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• Circuit artisanal : notes → dictée → ressaisie Word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• Bilinguisme arabe judiciaire / français d’affaires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• Secret professionnel (loi 28-08, art. 30)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• Besoin : un SI de cabinet, pas un chatbot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Stage WEBVOICE (Tanger) · ENSA Tétouan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1er juil. – 31 août 2026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Livré : https://lexhub.space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43000"/>
            <a:ext cx="55778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252728"/>
            <a:ext cx="5303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Problématique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1563624"/>
            <a:ext cx="5303520" cy="440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Comment concevoir et mettre en production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un SaaS multi-cabinets où :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1. l’avocat mène un atelier en 5 étapes ;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2. l’assistant ne voit que le validé ;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3. l’abonnement est opérationnel ;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4. l’IA n’invente aucun fait juridique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2. Positionnement marché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AS-IS → écart → TO-BE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43000"/>
            <a:ext cx="3566160" cy="123444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A1228"/>
                </a:solidFill>
                <a:latin typeface="Georgia"/>
              </a:rPr>
              <a:t>AS-IS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A667A"/>
                </a:solidFill>
                <a:latin typeface="Calibri"/>
              </a:rPr>
              <a:t>Outils en silos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43000"/>
            <a:ext cx="3566160" cy="1234440"/>
          </a:xfrm>
          <a:prstGeom prst="roundRect">
            <a:avLst/>
          </a:prstGeom>
          <a:solidFill>
            <a:srgbClr val="FDEED9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3716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A1228"/>
                </a:solidFill>
                <a:latin typeface="Georgia"/>
              </a:rPr>
              <a:t>ÉCART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8288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A667A"/>
                </a:solidFill>
                <a:latin typeface="Calibri"/>
              </a:rPr>
              <a:t>Process non uni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43000"/>
            <a:ext cx="3566160" cy="123444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3716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A1228"/>
                </a:solidFill>
                <a:latin typeface="Georgia"/>
              </a:rPr>
              <a:t>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8288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A667A"/>
                </a:solidFill>
                <a:latin typeface="Calibri"/>
              </a:rPr>
              <a:t>SI LexHub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651760"/>
            <a:ext cx="3703320" cy="411480"/>
          </a:xfrm>
          <a:prstGeom prst="roundRect">
            <a:avLst/>
          </a:prstGeom>
          <a:solidFill>
            <a:srgbClr val="0A122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272491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Famille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651760"/>
            <a:ext cx="3703320" cy="411480"/>
          </a:xfrm>
          <a:prstGeom prst="roundRect">
            <a:avLst/>
          </a:prstGeom>
          <a:solidFill>
            <a:srgbClr val="0A122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15968" y="272491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Force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651760"/>
            <a:ext cx="3703320" cy="411480"/>
          </a:xfrm>
          <a:prstGeom prst="roundRect">
            <a:avLst/>
          </a:prstGeom>
          <a:solidFill>
            <a:srgbClr val="0A122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6448" y="2724912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Limite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154680"/>
            <a:ext cx="37033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32918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A1228"/>
                </a:solidFill>
                <a:latin typeface="Calibri"/>
              </a:rPr>
              <a:t>Gestion cabinet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154680"/>
            <a:ext cx="37033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15968" y="32918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Dossiers / calendrier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20" y="3154680"/>
            <a:ext cx="37033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6448" y="329184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Pas d’atelier voix → acte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813048"/>
            <a:ext cx="37033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950208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A1228"/>
                </a:solidFill>
                <a:latin typeface="Calibri"/>
              </a:rPr>
              <a:t>Dictée desktop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6240" y="3813048"/>
            <a:ext cx="37033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15968" y="3950208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Transcription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20" y="3813048"/>
            <a:ext cx="37033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56448" y="3950208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Pas SaaS multi-tenant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4471416"/>
            <a:ext cx="37033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608576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A1228"/>
                </a:solidFill>
                <a:latin typeface="Calibri"/>
              </a:rPr>
              <a:t>Chatbots IA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06240" y="4471416"/>
            <a:ext cx="37033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4608576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Rédaction fluide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4471416"/>
            <a:ext cx="37033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56448" y="4608576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Invention de faits, pas d’équipe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5129784"/>
            <a:ext cx="3703320" cy="59436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5266944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A1228"/>
                </a:solidFill>
                <a:latin typeface="Calibri"/>
              </a:rPr>
              <a:t>LexHub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06240" y="5129784"/>
            <a:ext cx="3703320" cy="59436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5266944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A2436"/>
                </a:solidFill>
                <a:latin typeface="Calibri"/>
              </a:rPr>
              <a:t>Dossier + plaidoirie + rôles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46720" y="5129784"/>
            <a:ext cx="3703320" cy="59436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56448" y="5266944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A2436"/>
                </a:solidFill>
                <a:latin typeface="Calibri"/>
              </a:rPr>
              <a:t>Déployé sur lexhub.space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3. Objectifs du PFA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Un SI de cabinet — l’IA est un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67665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252728"/>
            <a:ext cx="6492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Objectifs livrés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563624"/>
            <a:ext cx="6492240" cy="440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1. Atelier 5 étapes (dossier → export Word / PDF)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2. Espace cabinet : dossiers, pièces, équipe, planning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3. Rôles : avocat, assistant, admin cabinet, admin plateforme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4. Validation = seuil de visibilité assistant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5. Modèle d’abonnement + production réelle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143000"/>
            <a:ext cx="44805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61504" y="1252728"/>
            <a:ext cx="4206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Règle d’or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1504" y="1563624"/>
            <a:ext cx="4206240" cy="440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Postgres = vérité métier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LLM = proposition,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jamais maître des faits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L’avocat reste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responsable du contenu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4. Acteurs &amp; RBAC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Quatre rôles — moindre privilège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6949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0759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Calibri"/>
              </a:rPr>
              <a:t>Avocat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307592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Dicte, corrige, rédige, valide, exporte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240280"/>
            <a:ext cx="6949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0487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Calibri"/>
              </a:rPr>
              <a:t>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04872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Uniquement plaidoiries validées / finalisées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337560"/>
            <a:ext cx="6949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502152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Calibri"/>
              </a:rPr>
              <a:t>Admin cabinet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502152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Équipe, abonnement, identité visuelle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434840"/>
            <a:ext cx="694944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9431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Calibri"/>
              </a:rPr>
              <a:t>Admin plateforme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599431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Cabinets / leads — sans lecture des affaires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143000"/>
            <a:ext cx="42976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4383" y="1252728"/>
            <a:ext cx="40233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Cycle de vie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44383" y="1563624"/>
            <a:ext cx="4023360" cy="4041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Brouillon → invisible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à l’assistant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Validée → visible équipe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(validation séparée)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Export → finalisée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(Word .docx / PDF)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5. Cœur produit — cinq étapes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Dossier → pièces → rédaction → livrable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2194560" cy="201168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C9A84A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Dossier &amp;</a:t>
            </a:r>
          </a:p>
          <a:p>
            <a:r>
              <a:rPr sz="1300" b="1">
                <a:solidFill>
                  <a:srgbClr val="0A1228"/>
                </a:solidFill>
                <a:latin typeface="Calibri"/>
              </a:rPr>
              <a:t>pièces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143000"/>
            <a:ext cx="2194560" cy="201168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37160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C9A84A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92024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Dictée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143000"/>
            <a:ext cx="2194560" cy="201168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37160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C9A84A"/>
                </a:solidFill>
                <a:latin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92024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Correction</a:t>
            </a:r>
          </a:p>
          <a:p>
            <a:r>
              <a:rPr sz="1300" b="1">
                <a:solidFill>
                  <a:srgbClr val="0A1228"/>
                </a:solidFill>
                <a:latin typeface="Calibri"/>
              </a:rPr>
              <a:t>de forme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1143000"/>
            <a:ext cx="2194560" cy="201168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137160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C9A84A"/>
                </a:solidFill>
                <a:latin typeface="Georg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192024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Rédaction</a:t>
            </a:r>
          </a:p>
          <a:p>
            <a:r>
              <a:rPr sz="1300" b="1">
                <a:solidFill>
                  <a:srgbClr val="0A1228"/>
                </a:solidFill>
                <a:latin typeface="Calibri"/>
              </a:rPr>
              <a:t>assistée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38359" y="1143000"/>
            <a:ext cx="2194560" cy="2011680"/>
          </a:xfrm>
          <a:prstGeom prst="roundRect">
            <a:avLst/>
          </a:prstGeom>
          <a:solidFill>
            <a:srgbClr val="D8F3DC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19" y="1371600"/>
            <a:ext cx="1920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C9A84A"/>
                </a:solidFill>
                <a:latin typeface="Georgia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19" y="192024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Calibri"/>
              </a:rPr>
              <a:t>Export</a:t>
            </a:r>
          </a:p>
          <a:p>
            <a:r>
              <a:rPr sz="1300" b="1">
                <a:solidFill>
                  <a:srgbClr val="0A1228"/>
                </a:solidFill>
                <a:latin typeface="Calibri"/>
              </a:rPr>
              <a:t>Word / PDF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429000"/>
            <a:ext cx="11430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53872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Points clés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3849624"/>
            <a:ext cx="1115568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• Étape 1 : identité des parties + pièces OCR ; domaine de plaidoirie lié au dossier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• Étapes 2–3 : micro Web Speech ou Whisper (Firefox inclus) ; Corriger (fautes OK) ; QCM de clarification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1A2436"/>
                </a:solidFill>
                <a:latin typeface="Calibri"/>
              </a:rPr>
              <a:t>• Étapes 4–5 : rédaction ancrée + chat révision ; export Word .docx et PDF (armoiries, charte) ; finalisée après export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6. Dictée, clarification &amp; révision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Fidélité des faits · UX claire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56235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252728"/>
            <a:ext cx="5349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Capture &amp; correction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563624"/>
            <a:ext cx="5349240" cy="440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Micro navigateur (Web Speech) ou Whisper (Firefox)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Fichier : WAV, MP3, OGG, M4A, WebM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Détection auto FR / AR (sans changer l’UI)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Bandeau d’écoute + boutons Terminé / Annuler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Correction de forme (fusḥā)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Surlignage des substitutions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Fautes de frappe / STT approximées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Pas de faux « succès » sur du charabia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6235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252728"/>
            <a:ext cx="5349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Clarification &amp;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563624"/>
            <a:ext cx="5349240" cy="440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QCM 0–5 : dossier anonymisé → LLM → avoc.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Chat révision : répond + met à jour le doc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Annuler / Modifier la requête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Remplit خامساً / لهذه الأسباب si vides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Ce que l’IA ne fait pas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Inventer faits, articles, montants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Remplacer le jugement de l’avocat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7. Urbanisation MADI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LexHub = SI de cabinet, pas « une appli IA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00584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0759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Georgia"/>
              </a:rPr>
              <a:t>M — Métier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307592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Dossier → Pièces → Plaidoirie → Équipe → Abonnement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11247120" cy="100584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5059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Georgia"/>
              </a:rPr>
              <a:t>A — Applications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450592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Cases · Documents · Rédaction · Billing · Admin · IA service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29000"/>
            <a:ext cx="11247120" cy="100584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9359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Georgia"/>
              </a:rPr>
              <a:t>D — Données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593592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Postgres (vérité) · MinIO (fichiers) · Redis (files)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11247120" cy="100584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73659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Georgia"/>
              </a:rPr>
              <a:t>I — Infrastructure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736592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Docker / VPS · Caddy TLS · OpenAI (externe)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8. Architecture déployée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SaaS multi-tenant — lexhub.space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3703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630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A1228"/>
                </a:solidFill>
                <a:latin typeface="Georgia"/>
              </a:rPr>
              <a:t>Navigateur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A667A"/>
                </a:solidFill>
                <a:latin typeface="Calibri"/>
              </a:rPr>
              <a:t>Next.js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143000"/>
            <a:ext cx="3703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4630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A1228"/>
                </a:solidFill>
                <a:latin typeface="Georgia"/>
              </a:rPr>
              <a:t>Caddy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9659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A667A"/>
                </a:solidFill>
                <a:latin typeface="Calibri"/>
              </a:rPr>
              <a:t>HTTPS / TLS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143000"/>
            <a:ext cx="3703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59" y="14630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A1228"/>
                </a:solidFill>
                <a:latin typeface="Georgia"/>
              </a:rPr>
              <a:t>FastAPI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19659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A667A"/>
                </a:solidFill>
                <a:latin typeface="Calibri"/>
              </a:rPr>
              <a:t>Métier + RBAC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971800"/>
            <a:ext cx="3703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918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A1228"/>
                </a:solidFill>
                <a:latin typeface="Georgia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947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A667A"/>
                </a:solidFill>
                <a:latin typeface="Calibri"/>
              </a:rPr>
              <a:t>Vérité métier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2971800"/>
            <a:ext cx="3703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32918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A1228"/>
                </a:solidFill>
                <a:latin typeface="Georgia"/>
              </a:rPr>
              <a:t>Redis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7947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A667A"/>
                </a:solidFill>
                <a:latin typeface="Calibri"/>
              </a:rPr>
              <a:t>Files / temps réel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79" y="2971800"/>
            <a:ext cx="3703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9" y="329184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0A1228"/>
                </a:solidFill>
                <a:latin typeface="Georgia"/>
              </a:rPr>
              <a:t>MinIO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9" y="3794760"/>
            <a:ext cx="3291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A667A"/>
                </a:solidFill>
                <a:latin typeface="Calibri"/>
              </a:rPr>
              <a:t>Fichiers chiffrés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83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Isolation cabinet_id · RBAC (assistant ≠ brouillons) · Whisper ou Web Speech · ports BDD 127.0.0.1 · admin plateforme sans lecture des affaires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8bis. Diagrammes clés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Six séquences UML — sources PlantUML dans diagrams/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5715000" cy="128016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5349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Georgia"/>
              </a:rPr>
              <a:t>Inscription OTP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request → e-mail → verify → register (Cabinet ACTIVE + essai) → login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43000"/>
            <a:ext cx="5715000" cy="128016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25880"/>
            <a:ext cx="5349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Georgia"/>
              </a:rPr>
              <a:t>Login + Turnstile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captcha-config → login ; Turnstile après 3 échecs → JWT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560320"/>
            <a:ext cx="5715000" cy="128016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743200"/>
            <a:ext cx="5349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Georgia"/>
              </a:rPr>
              <a:t>Dictée → rédaction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54679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STT → polish → clarify → compose → revise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560320"/>
            <a:ext cx="5715000" cy="128016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5349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Georgia"/>
              </a:rPr>
              <a:t>Validation / 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54679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validate / assign → WS ; export Word/PDF → finalized (UI)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977639"/>
            <a:ext cx="5715000" cy="128016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60520"/>
            <a:ext cx="5349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Georgia"/>
              </a:rPr>
              <a:t>Documents OCR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POST /upload → MinIO → extract → extracted_text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977639"/>
            <a:ext cx="5715000" cy="1280160"/>
          </a:xfrm>
          <a:prstGeom prst="roundRect">
            <a:avLst/>
          </a:prstGeom>
          <a:solidFill>
            <a:srgbClr val="EEF2F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4160520"/>
            <a:ext cx="5349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Georgia"/>
              </a:rPr>
              <a:t>Facturation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572000"/>
            <a:ext cx="5349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plans / packs → history (amount &gt; 0 MAD) → PDF facture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9. Modèle économique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Essai hybride · plans · packs · sièges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2788920" cy="438912"/>
          </a:xfrm>
          <a:prstGeom prst="roundRect">
            <a:avLst/>
          </a:prstGeom>
          <a:solidFill>
            <a:srgbClr val="0A122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Formule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143000"/>
            <a:ext cx="2788920" cy="438912"/>
          </a:xfrm>
          <a:prstGeom prst="roundRect">
            <a:avLst/>
          </a:prstGeom>
          <a:solidFill>
            <a:srgbClr val="0A122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234440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Mensuel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43000"/>
            <a:ext cx="2788920" cy="438912"/>
          </a:xfrm>
          <a:prstGeom prst="roundRect">
            <a:avLst/>
          </a:prstGeom>
          <a:solidFill>
            <a:srgbClr val="0A122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234440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Essai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143000"/>
            <a:ext cx="2788920" cy="438912"/>
          </a:xfrm>
          <a:prstGeom prst="roundRect">
            <a:avLst/>
          </a:prstGeom>
          <a:solidFill>
            <a:srgbClr val="0A1228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1234440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Cible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673352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81051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A1228"/>
                </a:solidFill>
                <a:latin typeface="Calibri"/>
              </a:rPr>
              <a:t>Découverte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1673352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181051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0 MAD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673352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81051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Permanent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673352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81051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Découverte produit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313432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45059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A1228"/>
                </a:solidFill>
                <a:latin typeface="Calibri"/>
              </a:rPr>
              <a:t>Solo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2313432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0" y="245059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299 MAD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313432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245059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14 j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2313432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35440" y="245059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Avocat indépendant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2953512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09067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A1228"/>
                </a:solidFill>
                <a:latin typeface="Calibri"/>
              </a:rPr>
              <a:t>Cabinet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91840" y="2953512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83280" y="309067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699 MAD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953512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60" y="309067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30 j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2953512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35440" y="309067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Petite structure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3593591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373075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A1228"/>
                </a:solidFill>
                <a:latin typeface="Calibri"/>
              </a:rPr>
              <a:t>Entreprise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0" y="3593591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83280" y="373075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1 290 MAD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593591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373075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7 j qualifié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3593591"/>
            <a:ext cx="278892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3730752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1A2436"/>
                </a:solidFill>
                <a:latin typeface="Calibri"/>
              </a:rPr>
              <a:t>Cabinets structurés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5760" y="4389120"/>
            <a:ext cx="56235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2064" y="4498848"/>
            <a:ext cx="5349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Garde-fous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064" y="4809744"/>
            <a:ext cx="53492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Essai = durée + plafond crédits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Repère IA du jour (continuer / demain)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Factures listées si amount &gt; 0 MAD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389120"/>
            <a:ext cx="562356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18504" y="4498848"/>
            <a:ext cx="5349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Croissance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18504" y="4809744"/>
            <a:ext cx="53492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Packs prépayés (abonnés actifs)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Sièges Cabinet · Parrainage confraternel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PDF facture téléchargeable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10. Production &amp; CI/CD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https://lexhub.space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56235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252728"/>
            <a:ext cx="5349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563624"/>
            <a:ext cx="5349240" cy="440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VPS · Docker Compose · Caddy TLS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Images frontend / backend / celery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GitHub Actions → GHCR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Sauvegardes PostgreSQL + fichiers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Atout multi-support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Même SaaS desktop + mobile (pas d’app native)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Dock tactile · rôles conservés · ~360–430 px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6235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252728"/>
            <a:ext cx="5349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Sécurité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563624"/>
            <a:ext cx="5349240" cy="440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JWT + OTP e-mail + Turnstile (après échecs)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Multi-tenant (cabinet_id) + RBAC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Noms masqués avant tout appel LLM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Admin plateforme : usage/plans, jamais les affaires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Dock mobile fixé ; marque LexHub (pas « Administration »)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1A2436"/>
                </a:solidFill>
                <a:latin typeface="Calibri"/>
              </a:rPr>
              <a:t>• Adminer via tunnel SSH seulement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86868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11. Démonstration — Accueil &amp; connexion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" y="1014983"/>
            <a:ext cx="574243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5669280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5687567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Accueil LexHub (page publique)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014983"/>
            <a:ext cx="565099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-connex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577840" cy="461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687567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Connexion sécurisée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86868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11bis. Démonstration — Tableau de bord &amp; dossiers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" y="1014983"/>
            <a:ext cx="574243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0-tableau-de-b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5669280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5687567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Tableau de bord — dossiers, documents, essai et crédits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014983"/>
            <a:ext cx="565099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1-dossi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577840" cy="461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687567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Liste des dossiers du cabinet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86868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11ter. Démonstration — Dossier &amp; documents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" y="1014983"/>
            <a:ext cx="574243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4-dossier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5669280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5687567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Fiche dossier — identité des parties et plaidoirie liée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014983"/>
            <a:ext cx="565099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3-docu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577840" cy="461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687567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Espace Documents — dépôt et statut d'extraction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86868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11quater. Démonstration — Document &amp; atelier plaidoirie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" y="1014983"/>
            <a:ext cx="574243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3b-documen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5669280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5687567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Détail document — extrait, synthèse IA et questions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014983"/>
            <a:ext cx="565099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4b-plaidoirie-worksp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577840" cy="461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687567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Atelier plaidoirie — étape 1 (dossier &amp; pièces)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86868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11quinquies. Démonstration — Transcription &amp; export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" y="1014983"/>
            <a:ext cx="574243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4c-transcription-fus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5669280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5687567"/>
            <a:ext cx="5669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Transcription / correction (arabe fusḥā)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014983"/>
            <a:ext cx="5650992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9-export-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51560"/>
            <a:ext cx="5577840" cy="461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687567"/>
            <a:ext cx="5577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Export Word (.docx) / PDF de la plaidoirie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86868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11sexies. Démonstration — Équipe, activité &amp; admin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" y="1014983"/>
            <a:ext cx="3822191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6-equ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3749039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20040" y="5687567"/>
            <a:ext cx="37490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Équipe — invitations et rôles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9663" y="1014983"/>
            <a:ext cx="3822191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23-activite-cabi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51560"/>
            <a:ext cx="3749039" cy="4617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06240" y="5687567"/>
            <a:ext cx="37490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Journal d'activité du cabinet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55864" y="1014983"/>
            <a:ext cx="3822191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2a-admin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051560"/>
            <a:ext cx="3749039" cy="4617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92440" y="5687567"/>
            <a:ext cx="374903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0A1228"/>
                </a:solidFill>
                <a:latin typeface="Calibri"/>
              </a:rPr>
              <a:t>Admin plateforme — pilotage LexHub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12. 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Objectifs PFA — conformité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93268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44168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Calibri"/>
              </a:rPr>
              <a:t>Atelier 5 étapes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34416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Dossier → Word / 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325880"/>
            <a:ext cx="1645920" cy="411480"/>
          </a:xfrm>
          <a:prstGeom prst="roundRect">
            <a:avLst/>
          </a:prstGeom>
          <a:solidFill>
            <a:srgbClr val="1F6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95560" y="139903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011680"/>
            <a:ext cx="93268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212848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Calibri"/>
              </a:rPr>
              <a:t>SI multi-tenant + RBAC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21284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Isolation + validation assistant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0" y="2194560"/>
            <a:ext cx="1645920" cy="411480"/>
          </a:xfrm>
          <a:prstGeom prst="roundRect">
            <a:avLst/>
          </a:prstGeom>
          <a:solidFill>
            <a:srgbClr val="1F6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95560" y="226771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880360"/>
            <a:ext cx="93268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081528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Calibri"/>
              </a:rPr>
              <a:t>Urbanisation MADI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08152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Process / apps / données / infra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0" y="3063240"/>
            <a:ext cx="1645920" cy="411480"/>
          </a:xfrm>
          <a:prstGeom prst="roundRect">
            <a:avLst/>
          </a:prstGeom>
          <a:solidFill>
            <a:srgbClr val="1F6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3136391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3749039"/>
            <a:ext cx="93268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950207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Calibri"/>
              </a:rPr>
              <a:t>Modèle économique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950207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Essai, plans, packs ; factures &gt; 0 MAD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0" y="3931920"/>
            <a:ext cx="1645920" cy="411480"/>
          </a:xfrm>
          <a:prstGeom prst="roundRect">
            <a:avLst/>
          </a:prstGeom>
          <a:solidFill>
            <a:srgbClr val="1F6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95560" y="400507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4617720"/>
            <a:ext cx="93268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1228"/>
                </a:solidFill>
                <a:latin typeface="Calibri"/>
              </a:rPr>
              <a:t>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8188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A2436"/>
                </a:solidFill>
                <a:latin typeface="Calibri"/>
              </a:rPr>
              <a:t>lexhub.space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0" y="4800600"/>
            <a:ext cx="1645920" cy="411480"/>
          </a:xfrm>
          <a:prstGeom prst="roundRect">
            <a:avLst/>
          </a:prstGeom>
          <a:solidFill>
            <a:srgbClr val="1F6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5560" y="4873752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C9A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" y="0"/>
            <a:ext cx="12100255" cy="100584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1168"/>
            <a:ext cx="11338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Georgia"/>
              </a:rPr>
              <a:t>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4360"/>
            <a:ext cx="11338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B8C2D4"/>
                </a:solidFill>
                <a:latin typeface="Calibri"/>
              </a:rPr>
              <a:t>Évolution produit (hors périmètre déjà livré)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43000"/>
            <a:ext cx="56235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252728"/>
            <a:ext cx="5349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563624"/>
            <a:ext cx="5349240" cy="440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• Encaissement réel (CMI / PayZone)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• Qualité STT / relecture renforcée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62356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252728"/>
            <a:ext cx="5349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A1228"/>
                </a:solidFill>
                <a:latin typeface="Georgia"/>
              </a:rPr>
              <a:t>Moyen terme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563624"/>
            <a:ext cx="5349240" cy="440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• Continuité dossier → audience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• Interopérabilités sans casser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1A2436"/>
                </a:solidFill>
                <a:latin typeface="Calibri"/>
              </a:rPr>
              <a:t>  les maîtres de donnée MADI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9875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5A667A"/>
                </a:solidFill>
                <a:latin typeface="Calibri"/>
              </a:rPr>
              <a:t>LexHub · SI cabinet · lexhub.space · ENSA Tétouan · WEBVOICE · PFA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2801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A667A"/>
                </a:solidFill>
                <a:latin typeface="Calibri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lex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005840"/>
            <a:ext cx="2011680" cy="2011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92608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Georgia"/>
              </a:rPr>
              <a:t>Merci pour votre attention</a:t>
            </a:r>
          </a:p>
          <a:p>
            <a:pPr algn="ctr">
              <a:spcBef>
                <a:spcPts val="1400"/>
              </a:spcBef>
            </a:pPr>
            <a:r>
              <a:rPr sz="1700" b="0">
                <a:solidFill>
                  <a:srgbClr val="C9A84A"/>
                </a:solidFill>
                <a:latin typeface="Calibri"/>
              </a:rPr>
              <a:t>Questions  ·  Démonstration : https://lexhub.space</a:t>
            </a:r>
          </a:p>
          <a:p>
            <a:pPr algn="ctr">
              <a:spcBef>
                <a:spcPts val="1600"/>
              </a:spcBef>
            </a:pPr>
            <a:r>
              <a:rPr sz="1300" b="0">
                <a:solidFill>
                  <a:srgbClr val="A0AABE"/>
                </a:solidFill>
                <a:latin typeface="Calibri"/>
              </a:rPr>
              <a:t>EL ASSAL Douae  ·  ENSA Tétouan  ·  WEBVOICE  ·  LexHub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