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lex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502920"/>
            <a:ext cx="2011680" cy="2037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86000"/>
            <a:ext cx="10881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9A84A"/>
                </a:solidFill>
                <a:latin typeface="Calibri"/>
              </a:rPr>
              <a:t>SOUTENANCE — PROJET DE FIN D’ANNÉE</a:t>
            </a:r>
          </a:p>
          <a:p>
            <a:pPr algn="ctr">
              <a:spcBef>
                <a:spcPts val="1000"/>
              </a:spcBef>
            </a:pPr>
            <a:r>
              <a:rPr sz="4400" b="1">
                <a:solidFill>
                  <a:srgbClr val="FFFFFF"/>
                </a:solidFill>
                <a:latin typeface="Georgia"/>
              </a:rPr>
              <a:t>LexHub</a:t>
            </a:r>
          </a:p>
          <a:p>
            <a:pPr algn="ctr">
              <a:spcBef>
                <a:spcPts val="800"/>
              </a:spcBef>
            </a:pPr>
            <a:r>
              <a:rPr sz="1500" b="0">
                <a:solidFill>
                  <a:srgbClr val="C4CCD8"/>
                </a:solidFill>
                <a:latin typeface="Calibri"/>
              </a:rPr>
              <a:t>SaaS d’assistance IA pour cabinets d’avocats au Maroc
De la dictée et des pièces à la plaidoirie officielle — en production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A0AABC"/>
                </a:solidFill>
                <a:latin typeface="Calibri"/>
              </a:rPr>
              <a:t>https://lexhub.space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A0AABC"/>
                </a:solidFill>
                <a:latin typeface="Calibri"/>
              </a:rPr>
              <a:t>ENSA Tétouan  ·  WEBVOICE (Tanger)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A0AABC"/>
                </a:solidFill>
                <a:latin typeface="Calibri"/>
              </a:rPr>
              <a:t>Douae El Assal  ·  Encadrant : M. Hatim Benhaddou  ·  Tuteur : M. Mohammed Al Achhab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Une idée = une slide — produit réel déployé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7276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2763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57276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62763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Objectifs livrés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57276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62763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Positionnement LexHub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51460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8072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86207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Cœur : aide IA à l’avocat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251460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28072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86207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Dossier : données &amp; utilité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51460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28072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86207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Documents &amp; synthèse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749039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0416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09651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Équipe &amp; accès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749039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6552" y="40416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09651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Architecture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749039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40416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09651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Tarifs, essai, crédits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98348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5276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33095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Packs, sièges, parrainage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51960" y="498348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16552" y="5276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33095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Sécurité &amp; déploiement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498348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2" y="5276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533095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Bilan &amp; perspectives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1. Contexte &amp;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Barreau marocain · stage WEBVOICE · livrable 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69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5394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Contexte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63624"/>
            <a:ext cx="539496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• Production écrite dense : plaidoiries, mémoires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• Circuit artisanal : notes → ressaisie → Word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• Bilinguisme arabe / français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• Secret professionnel → isolation cabinet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• ChatGPT générique : pas de dossiers, rôles,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  pièces OCR, export officiel, quotas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WEBVOICE (Tanger) : voix + web → LegalTech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Livré : LexHub en production (lexhub.space)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5778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252728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Problématique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563624"/>
            <a:ext cx="530352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Comment déployer une SaaS multi-cabinets qui :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1. transforme dictée + pièces en plaidoirie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   structurée (Word/PDF officiel) ;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2. complète les manques via questions ;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3. collabore avec l’assistant sans exposer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   les brouillons ;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4. monétise (quotas, crédits, parrainage) ;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5. sans inventer le fond juridique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86868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2. Objectifs — tous en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▸  Pipeline voix + pièces → questions → rédaction → chat révision → export logo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▸  Espace cabinet : dossiers, documents, planning, activité, clé de barre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▸  Analyse documentaire (synthèse / Q&amp;A) et analyse de dossier (overview)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▸  Équipe : invitations e-mail + code d’adhésion, sièges selon plan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▸  Freemium + essai plafonné + packs (actif payant) + sièges à la carte + PAYG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▸  Parrainage cabinet→cabinet (+14 j / +30 j) · isolation multi-tenant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▸  Prod TLS, OTP, WebSocket, CI/CD sur https://lexhub.space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3. Positionnement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Outil de cabinet — pas un chatbot libre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3703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LexHub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63624"/>
            <a:ext cx="342900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Dictée Web Speech API native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Transcription Fusha + surlignage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Contrôle déterministe contradictions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Révision par chat assisté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Export Word (.docx) unique + logo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Rôles RBAC, validation, équipe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Quotas, packs FIFO &amp; parrainage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43000"/>
            <a:ext cx="3703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1252728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LexHub ne fait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1563624"/>
            <a:ext cx="342900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Remplacer le conseil juridique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Inventer faits / articles / montants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ERP facturation du cabinet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Remplacer Mahakim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Lire les dossiers côté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admin plateforme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43000"/>
            <a:ext cx="36576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252728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Principe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1563624"/>
            <a:ext cx="338328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L’avocat reste seul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responsable du contenu.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L’IA structure, propose,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interroge — ne plaide pas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à sa place.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4. Comment l’IA aide réellement l’avocat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Parcours déployé — atelier plaidoirie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187451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80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9A84A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0312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2436"/>
                </a:solidFill>
                <a:latin typeface="Calibri"/>
              </a:rPr>
              <a:t>Dossier + pièces OCR</a:t>
            </a:r>
          </a:p>
          <a:p>
            <a:r>
              <a:rPr sz="1100" b="0">
                <a:solidFill>
                  <a:srgbClr val="1A2436"/>
                </a:solidFill>
                <a:latin typeface="Calibri"/>
              </a:rPr>
              <a:t>+ dictée avocat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143000"/>
            <a:ext cx="187451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8" y="1280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9A84A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Analyse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10312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2436"/>
                </a:solidFill>
                <a:latin typeface="Calibri"/>
              </a:rPr>
              <a:t>Manques détectés</a:t>
            </a:r>
          </a:p>
          <a:p>
            <a:r>
              <a:rPr sz="1100" b="0">
                <a:solidFill>
                  <a:srgbClr val="1A2436"/>
                </a:solidFill>
                <a:latin typeface="Calibri"/>
              </a:rPr>
              <a:t>arguments / faits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1143000"/>
            <a:ext cx="187451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1280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9A84A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10312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2436"/>
                </a:solidFill>
                <a:latin typeface="Calibri"/>
              </a:rPr>
              <a:t>QCM de clarification</a:t>
            </a:r>
          </a:p>
          <a:p>
            <a:r>
              <a:rPr sz="1100" b="0">
                <a:solidFill>
                  <a:srgbClr val="1A2436"/>
                </a:solidFill>
                <a:latin typeface="Calibri"/>
              </a:rPr>
              <a:t>(max 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1143000"/>
            <a:ext cx="187451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7" y="1280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9A84A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7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Rédaction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7" y="210312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2436"/>
                </a:solidFill>
                <a:latin typeface="Calibri"/>
              </a:rPr>
              <a:t>Structure pro</a:t>
            </a:r>
          </a:p>
          <a:p>
            <a:r>
              <a:rPr sz="1100" b="0">
                <a:solidFill>
                  <a:srgbClr val="1A2436"/>
                </a:solidFill>
                <a:latin typeface="Calibri"/>
              </a:rPr>
              <a:t>anti-invention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1143000"/>
            <a:ext cx="187451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7" y="1280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9A84A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7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Chat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7" y="210312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2436"/>
                </a:solidFill>
                <a:latin typeface="Calibri"/>
              </a:rPr>
              <a:t>Révision guidée</a:t>
            </a:r>
          </a:p>
          <a:p>
            <a:r>
              <a:rPr sz="1100" b="0">
                <a:solidFill>
                  <a:srgbClr val="1A2436"/>
                </a:solidFill>
                <a:latin typeface="Calibri"/>
              </a:rPr>
              <a:t>crédits visibles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40" y="1143000"/>
            <a:ext cx="187451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59567" y="1280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9A84A"/>
                </a:solidFill>
                <a:latin typeface="Georgia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59567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59567" y="210312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2436"/>
                </a:solidFill>
                <a:latin typeface="Calibri"/>
              </a:rPr>
              <a:t>Aperçu + Word/PDF</a:t>
            </a:r>
          </a:p>
          <a:p>
            <a:r>
              <a:rPr sz="1100" b="0">
                <a:solidFill>
                  <a:srgbClr val="1A2436"/>
                </a:solidFill>
                <a:latin typeface="Calibri"/>
              </a:rPr>
              <a:t>logo cabinet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703320"/>
            <a:ext cx="11430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381304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Règle métier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4123944"/>
            <a:ext cx="11155680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La dictée est la source primaire des faits. Les pièces jointes ancrent les preuves (OCR). Si une info manque, LexHub ne l’invente pas : il pose des questions, puis compose. L’avocat édite au chat, voit l’aperçu officiel, télécharge Word ou PDF avec le branding cabinet.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4bis. Aperçu produit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Atelier &amp; tableau de bord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" y="1106424"/>
            <a:ext cx="574243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b-plaidoirie-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5669280" cy="4937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81344" y="1106424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4c-transcription-fus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577840" cy="4937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5. Création de dossier — données &amp; utilité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Identité juridique pour la plaidoirie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11430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Client / parties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307592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Noms, rôles, qualités (physique / morale)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74519"/>
            <a:ext cx="11430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3911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Tribunal &amp; ville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39112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Siège + type de juridiction marocaine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606040"/>
            <a:ext cx="11430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7063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N° RG / greffe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770632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Références citées dans l’acte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337560"/>
            <a:ext cx="11430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0215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Degré / chambre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502152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1ère instance, appel, référé…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069080"/>
            <a:ext cx="11430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3367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233672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1ère audience → planning lié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800600"/>
            <a:ext cx="11430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6519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Adversaire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965192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Partie adverse + domicile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6. Documents &amp; intelligence dossier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Hors atelier plaidoirie — gain de temps quotidien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Pièces &amp; module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Upload pièces (OCR asynchrone)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Synthèse sourcée d’un document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(pas d’affirmation sans ancrage)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Q&amp;A sur une pièce (crédits ask)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Peut rattacher à un dossier ou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zone « Non classé »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Utilité : lire vite un contrat,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une requête, un PV sans tout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relire manuellement.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Vue d’ensemble du dossier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Analyse de dossier (overview)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: synthèse transversale des pièces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Clé de barre : fiche orale IA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pour préparer l’audience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(≠ mot de passe)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Utilité : l’avocat arrive à l’audience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avec les points clés, sans inventer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ce qui n’est pas dans le dossier.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7. Gestion d’équipe &amp; accès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Admin cabinet = avocat + responsable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Invitations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1. E-mail d’invitation (rôle choisi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 avocat / assistant) — lien + code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2. Code d’adhésion cabinet (durée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 limitée, approvals contrôlés)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3. Quotas de sièges selon le plan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 (Solo 1+1 · Cabinet 5+3 · …)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Page Équipe + Paramètres cabinet.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Visibilité plaidoirie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Brouillon : avocat / admin seulement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Valider → visible aux assistants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Assigner → notification ciblée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Épingler (pin) sur pièce validée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Assistant : pas d’IA lourde ;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peut quitter via Zone sensible.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Admin plateforme : purge cabinets,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sans lire les affaires.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8. Architecture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Stack de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Couches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Frontend — Next.js 14, TypeScript, FR/AR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API — FastAPI (Python 3.11), JWT, Alembic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Jobs — Celery + Redis (tâches lourdes)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Données — PostgreSQL 15, MinIO (objets)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Voix — Web Speech API W3C native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IA — Prompts déterministes anti-hallucination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Export — Word (.docx) avec armoiries royales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Audit BDD — Adminer via tunnel SSH chiffré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Garanties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Isolation cabinet_id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RBAC par rôle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OTP e-mail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WebSocket temps réel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Audit actions sensibles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HTTPS / TLS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URL : https://lexhub.space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9. Tarifs, essai hybride &amp; crédits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API live /api/billing/plans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1874519" cy="438912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2344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143000"/>
            <a:ext cx="1874519" cy="438912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9152" y="12344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MAD/mois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143000"/>
            <a:ext cx="1874519" cy="438912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2344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Sièges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19" y="1143000"/>
            <a:ext cx="1874519" cy="438912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1" y="12344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Plaidoiries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143000"/>
            <a:ext cx="1874519" cy="438912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2344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Crédits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9840" y="1143000"/>
            <a:ext cx="1874519" cy="438912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2992" y="12344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Essai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1673352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Découverte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1673352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9152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59" y="1673352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19" y="1673352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1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1673352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1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50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1673352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22992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2240280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235000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Solo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240280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9152" y="235000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299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59" y="2240280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25112" y="235000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1+1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19" y="2240280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1" y="235000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35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9" y="2240280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57031" y="235000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600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49840" y="2240280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22992" y="235000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14 j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" y="2807208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291693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Cabinet 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86000" y="2807208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59152" y="291693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699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51959" y="2807208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25112" y="291693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5+3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19" y="2807208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91071" y="291693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120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83879" y="2807208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57031" y="291693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2 000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49840" y="2807208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22992" y="291693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30 j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0040" y="3374136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348386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Entreprise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286000" y="3374136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59152" y="348386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1 290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51959" y="3374136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25112" y="348386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15+10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19" y="3374136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91071" y="348386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350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83879" y="3374136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57031" y="348386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5 000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149840" y="3374136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22992" y="348386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30 j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4114800"/>
            <a:ext cx="11430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▸  Essai hybride : 0 MAD + plafonds réduits (Solo 400/25 · Cabinet 1 000/60 · Entreprise 1 800/120) — pas le forfait plein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▸  Coûts crédits : polish 1 · ask 2 · clarify 3 · synthèse 4 · révision 5 · analyse / clé 8 · rédaction 10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▸  Ordre de conso : forfait du mois → packs FIFO (12 mois) → PAYG si ON (~0,25 MAD) → sinon blocage clair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▸  Paiement : admin cabinet · CMI/PayZone env. prêt · activation opérateur en cours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10. Packs, sièges &amp; parrainage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Trois objets de facturation + croissance organique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Packs &amp; sièges (déployé)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Packs : 500 / 110 · 1 000 / 200 · 2 500 / 450 MAD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Uniquement si abonnement ACTIF payant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(jamais pendant l’essai / Découverte)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Acheter → fenêtre carte → crédit après paiement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Expiration 12 mois par lot (FIFO)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Cabinet : +1 avocat = 99 MAD/mois (0–5 extra)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PAYG OFF par défaut · jamais silencieux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Parrainage &amp; logique éco.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Code LH-… + lien ?ref=CODE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Filleul +14 j · parrain +30 j au paiement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Anti-abus : pas d’auto-ref · max 12/an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Découverte = acquisition (3/50)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Solo / Cabinet = cœur de revenus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Pack = recharge si forfait fini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Résiliation en fin de période payée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86868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11. Sécurité, tests, déploiement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16128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Sécurité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47218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JWT / sessions · rate limiting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Multi-tenant (Rabat ≠ Atlas)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OTP inscription / sensible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Audit · Zone sensible comptes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Admin WV : suspendre / purger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sans ouvrir les dossiers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5156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16128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Livré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8504" y="147218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Prod : lexhub.space (Caddy TLS)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CI → images GHCR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Scénarios rôles + pipeline 5 étapes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Kits test commercial &amp; famille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Rapport PFA + guide encadrant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≠ démo hors-ligne : SaaS réel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12.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Évolution produit — outillage déjà en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A2436"/>
                </a:solidFill>
                <a:latin typeface="Calibri"/>
              </a:rPr>
              <a:t>▸  Précision / latence STT arabe juridique (lexique cabinet)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A2436"/>
                </a:solidFill>
                <a:latin typeface="Calibri"/>
              </a:rPr>
              <a:t>▸  Modèles par domaine + historique de versions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A2436"/>
                </a:solidFill>
                <a:latin typeface="Calibri"/>
              </a:rPr>
              <a:t>▸  Indicateurs métier · planning ↔ audience ↔ plaidoirie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A2436"/>
                </a:solidFill>
                <a:latin typeface="Calibri"/>
              </a:rPr>
              <a:t>▸  Activer paiement opérateur CMI / PayZone (abo + packs)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A2436"/>
                </a:solidFill>
                <a:latin typeface="Calibri"/>
              </a:rPr>
              <a:t>▸  Qualifier les essais Entreprise · palier Sur mesure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A2436"/>
                </a:solidFill>
                <a:latin typeface="Calibri"/>
              </a:rPr>
              <a:t>▸  Rétention audio &amp; politiques de purge renforcées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lex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097280"/>
            <a:ext cx="2011680" cy="2037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01752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Georgia"/>
              </a:rPr>
              <a:t>Merci de votre attention</a:t>
            </a:r>
          </a:p>
          <a:p>
            <a:pPr algn="ctr">
              <a:spcBef>
                <a:spcPts val="1400"/>
              </a:spcBef>
            </a:pPr>
            <a:r>
              <a:rPr sz="1700" b="0">
                <a:solidFill>
                  <a:srgbClr val="C9A84A"/>
                </a:solidFill>
                <a:latin typeface="Calibri"/>
              </a:rPr>
              <a:t>Questions  ·  Démonstration : https://lexhub.space</a:t>
            </a:r>
          </a:p>
          <a:p>
            <a:pPr algn="ctr">
              <a:spcBef>
                <a:spcPts val="1600"/>
              </a:spcBef>
            </a:pPr>
            <a:r>
              <a:rPr sz="1300" b="0">
                <a:solidFill>
                  <a:srgbClr val="A0AABE"/>
                </a:solidFill>
                <a:latin typeface="Calibri"/>
              </a:rPr>
              <a:t>Douae El Assal  ·  ENSA Tétouan  ·  WEBVOICE  ·  LexHub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