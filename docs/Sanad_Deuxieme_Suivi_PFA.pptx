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an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C4A56E"/>
                </a:solidFill>
                <a:latin typeface="Georgia"/>
              </a:rPr>
              <a:t>SANAD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Georgia"/>
              </a:rPr>
              <a:t>Deuxieme suivi PFA — Retours du premier suivi &amp; livraisons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7F4EF"/>
                </a:solidFill>
                <a:latin typeface="Calibri"/>
              </a:rPr>
              <a:t>Plateforme d'assistance IA pour cabinets d'avocats marocains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7F4EF"/>
                </a:solidFill>
                <a:latin typeface="Calibri"/>
              </a:rPr>
              <a:t>ENSA Tetouan  ·  Entreprise d'accueil : WebVoice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7F4EF"/>
                </a:solidFill>
                <a:latin typeface="Calibri"/>
              </a:rPr>
              <a:t>Stagiaire : Douae El Assal  ·  Aout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1F4A"/>
                </a:solidFill>
                <a:latin typeface="Calibri"/>
              </a:rPr>
              <a:t>Structure : remarque → action → preuve  ·  une idee par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Objectif de ce deuxieme suivi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Ce que nous validons aujourd'hui — pas une reprise du cadrage initial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80160"/>
            <a:ext cx="51663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1F4A"/>
                </a:solidFill>
                <a:latin typeface="Georgia"/>
              </a:rPr>
              <a:t>Au programme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1. Montrer comment chaque remarque du 1er suivi a ete traitee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2. Presenter les livraisons concretes (fonctionnel + technique)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3. Demontrer le parcours plaidoirie arabe (coeur PFA)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4. Expliquer l'architecture resiliente (STT / LLM / Docker)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5. Positionner Sanad via une grille benchmark OK / Non OK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6. Fixer les priorites jusqu'au prochain jalon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43000"/>
            <a:ext cx="5577840" cy="4754880"/>
          </a:xfrm>
          <a:prstGeom prst="roundRect">
            <a:avLst/>
          </a:prstGeom>
          <a:solidFill>
            <a:srgbClr val="0B1F4A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280160"/>
            <a:ext cx="52578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A56E"/>
                </a:solidFill>
                <a:latin typeface="Georgia"/>
              </a:rPr>
              <a:t>Hors scope de cette seance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Ne pas re-presenter toute la problematique marche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Ne pas repeter le meme parcours sur 5 slides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Ne pas empiler des listes de features identiques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Focus : remarque → action → preuve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Ancrage — coeur produit (rappel unique)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Valide au 1er suivi · fil rouge sans repetition ulterieure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2560320"/>
          </a:xfrm>
          <a:prstGeom prst="roundRect">
            <a:avLst/>
          </a:prstGeom>
          <a:solidFill>
            <a:srgbClr val="0B1F4A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Georgia"/>
              </a:rPr>
              <a:t>Transformer la voix de l'avocat (arabe) en plaidoirie structuree, modifiable et exportable (Word / PDF), classee dans le dossier du cabinet — sans dependance unique a un outil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475"/>
                </a:solidFill>
                <a:latin typeface="Calibri"/>
              </a:rPr>
              <a:t>Les modules cabinet (dossiers, documents, agenda, equipe) soutiennent ce flux ; ils ne le remplacent 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Matrice des remarques — reponses &amp; preuves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Slide centrale : une ligne = une remarque (pas de doublon ensuite)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2761488" cy="384048"/>
          </a:xfrm>
          <a:prstGeom prst="roundRect">
            <a:avLst/>
          </a:prstGeom>
          <a:solidFill>
            <a:srgbClr val="0B1F4A"/>
          </a:solidFill>
          <a:ln w="1270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33272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A56E"/>
                </a:solidFill>
                <a:latin typeface="Calibri"/>
              </a:rPr>
              <a:t>Remarque (1er suivi)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960120"/>
            <a:ext cx="4498848" cy="384048"/>
          </a:xfrm>
          <a:prstGeom prst="roundRect">
            <a:avLst/>
          </a:prstGeom>
          <a:solidFill>
            <a:srgbClr val="0B1F4A"/>
          </a:solidFill>
          <a:ln w="1270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033272"/>
            <a:ext cx="4343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A56E"/>
                </a:solidFill>
                <a:latin typeface="Calibri"/>
              </a:rPr>
              <a:t>Reponse technique /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960120"/>
            <a:ext cx="4041648" cy="384048"/>
          </a:xfrm>
          <a:prstGeom prst="roundRect">
            <a:avLst/>
          </a:prstGeom>
          <a:solidFill>
            <a:srgbClr val="0B1F4A"/>
          </a:solidFill>
          <a:ln w="12700">
            <a:solidFill>
              <a:srgbClr val="0B1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033272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4A56E"/>
                </a:solidFill>
                <a:latin typeface="Calibri"/>
              </a:rPr>
              <a:t>Preuve dans Sanad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417320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90472"/>
            <a:ext cx="2578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STT : dependance fragile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417320"/>
            <a:ext cx="44988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90472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Whisper local + upload audio + Chrome secours + saisie manuelle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417320"/>
            <a:ext cx="40416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490472"/>
            <a:ext cx="3858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API /dictation/transcribe · segments 55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130552"/>
            <a:ext cx="2761488" cy="658368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203704"/>
            <a:ext cx="2578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LLM : risque fournisseur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2130552"/>
            <a:ext cx="4498848" cy="658368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203704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Multi-fournisseurs + Ollama local + mode degrade (edition/export)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130552"/>
            <a:ext cx="4041648" cy="658368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203704"/>
            <a:ext cx="3858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polish / compose / synthese avec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843784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916936"/>
            <a:ext cx="2578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Agenda ↔ affaires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2843784"/>
            <a:ext cx="44988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2916936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Evenements, taches et notes rattaches a un case_id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843784"/>
            <a:ext cx="40416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2916936"/>
            <a:ext cx="3858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Module Agenda + filtre par dossier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557016"/>
            <a:ext cx="2761488" cy="658368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630168"/>
            <a:ext cx="2578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Domaines + recherche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3557016"/>
            <a:ext cx="4498848" cy="658368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3630168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Domaine a la creation + filtre / recherche liste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557016"/>
            <a:ext cx="4041648" cy="658368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630168"/>
            <a:ext cx="3858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Affaires · case_type (civil, penal…)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270248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343400"/>
            <a:ext cx="2578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Benchmark OK / Non 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4270248"/>
            <a:ext cx="44988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4343400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Grille criteres cochables centree voix→dossier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4270248"/>
            <a:ext cx="40416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4343400"/>
            <a:ext cx="3858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docs/benchmark-ok-nok.md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4983480"/>
            <a:ext cx="2761488" cy="658368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056632"/>
            <a:ext cx="2578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Presentation redondante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0" y="4983480"/>
            <a:ext cx="4498848" cy="658368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5056632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Structure remarque→preuve ; 1 idee / slide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4983480"/>
            <a:ext cx="4041648" cy="658368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5056632"/>
            <a:ext cx="3858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Ce support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5696712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769864"/>
            <a:ext cx="25786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Gestion cabinet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0" y="5696712"/>
            <a:ext cx="44988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0" y="5769864"/>
            <a:ext cx="4315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Auth, roles, equipe, templates, multi-tenant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5696712"/>
            <a:ext cx="40416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0" y="5769864"/>
            <a:ext cx="38587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Calibri"/>
              </a:rPr>
              <a:t>Login / Team / Admin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Transcription vocale — architecture de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Reponse detaillee a la question STT (une seule fois)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3657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34439"/>
            <a:ext cx="3337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1F4A"/>
                </a:solidFill>
                <a:latin typeface="Georgia"/>
              </a:rPr>
              <a:t>Niveaux de secours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A. Whisper local (faster-whisper) — arabe force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B. Upload fichier audio (mp3 / wav / m4a / webm)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C. Chrome Web Speech (secours navigateur)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D. Saisie / collage manuel — toujours possible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Longue dictee : decoupe ~55 s → texte progressif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97280"/>
            <a:ext cx="3657600" cy="4846320"/>
          </a:xfrm>
          <a:prstGeom prst="roundRect">
            <a:avLst/>
          </a:prstGeom>
          <a:solidFill>
            <a:srgbClr val="0B1F4A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234439"/>
            <a:ext cx="3337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A56E"/>
                </a:solidFill>
                <a:latin typeface="Georgia"/>
              </a:rPr>
              <a:t>Choix produit Maroc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Langue STT = arabe (avocats marocains)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FR UI optionnel ; EN retire du switch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Prompt juridique Whisper + repair arabe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Badge « Whisper pret » = sante STT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Phrase cle : accelerateur, jamais blocage unique.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097280"/>
            <a:ext cx="3657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234439"/>
            <a:ext cx="3337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1F4A"/>
                </a:solidFill>
                <a:latin typeface="Georgia"/>
              </a:rPr>
              <a:t>Limite assumee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Modele small sur CPU = compromis qualite / cout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Ameliorable (modele plus grand / GPU)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OCR de mauvaise qualite = risque separe (scans)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Whisper ≠ Ollama — deux machines differentes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A retenir pour l'oral : oreilles vs plume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55778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188719"/>
            <a:ext cx="5257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1F4A"/>
                </a:solidFill>
                <a:latin typeface="Georgia"/>
              </a:rPr>
              <a:t>WHISPER (local) = oreilles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Entree : AUDIO (micro ou fichier)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Sortie : TEXTE brut arabe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Ou : conteneur backend (faster-whisper)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Ne corrige PAS le droit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Ne fait PAS la synthese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486400" cy="4023360"/>
          </a:xfrm>
          <a:prstGeom prst="roundRect">
            <a:avLst/>
          </a:prstGeom>
          <a:solidFill>
            <a:srgbClr val="0B1F4A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188719"/>
            <a:ext cx="5166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A56E"/>
                </a:solidFill>
                <a:latin typeface="Georgia"/>
              </a:rPr>
              <a:t>OLLAMA (local) = plume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Entree : TEXTE deja ecrit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Sortie : texte corrige / structure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Usages : polish, compose, synthese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Secours cloud : Groq / Kimi…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Ne lit PAS l'audio directement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257800"/>
            <a:ext cx="11338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Calibri"/>
              </a:rPr>
              <a:t>Chaine : Audio → Whisper → texte brut → Ollama/LLM → document. Si LLM tombe : edition + export Word/PDF restent possibles (mode degrade).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UX plaidoirie — parcours en deux ecrans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Reponse a la saturation UI · preuve visuelle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Ecran 1 — /redaction : choix depart (vide ou racine modele)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Ecran 2 — /redaction/[id] : dictee arabe + document officiel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Moins de textes d'aide : interface professionnelle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Login : email + mot de passe (lien magique discret)</a:t>
            </a:r>
          </a:p>
        </p:txBody>
      </p:sp>
      <p:pic>
        <p:nvPicPr>
          <p:cNvPr id="8" name="Picture 7" descr="14b-plaidoirie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51560"/>
            <a:ext cx="5760720" cy="36004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Dossiers par domaine + recherche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Reponse directe a la remarque classement / filtre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A la creation : choix du domaine (civil, penal, commercial, famille…)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Sur la liste : filtre domaine + recherche texte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Interet metier : plaidoiries souvent similaires par domaine → reutilisation</a:t>
            </a:r>
          </a:p>
        </p:txBody>
      </p:sp>
      <p:pic>
        <p:nvPicPr>
          <p:cNvPr id="8" name="Picture 7" descr="11-doss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51560"/>
            <a:ext cx="5760720" cy="36004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Agenda lie aux affaires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Reponse directe a la remarque sync planning ↔ dossiers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Evenements, taches et notes portent un case_id optionnel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Filtre agenda par dossier + lien vers l'affaire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Usage : audience / delai / preparation plaidoirie rattaches au dossier</a:t>
            </a:r>
          </a:p>
        </p:txBody>
      </p:sp>
      <p:pic>
        <p:nvPicPr>
          <p:cNvPr id="8" name="Picture 7" descr="15-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51560"/>
            <a:ext cx="5760720" cy="36004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Synthese des pieces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Livraison cabinet autour du coeur plaidoirie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Upload → OCR / extraction → synthese structuree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Blocs : parties, dates, montants, risques + resume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Accessible depuis la fiche document (avocat / admin)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Assistant : consultation limitee selon role</a:t>
            </a:r>
          </a:p>
        </p:txBody>
      </p:sp>
      <p:pic>
        <p:nvPicPr>
          <p:cNvPr id="8" name="Picture 7" descr="13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51560"/>
            <a:ext cx="5760720" cy="36004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Vue d'ensemble unique — pas de re-listing features</a:t>
            </a:r>
          </a:p>
        </p:txBody>
      </p:sp>
      <p:pic>
        <p:nvPicPr>
          <p:cNvPr id="7" name="Picture 6" descr="sanad-architecture-syst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766560" cy="41843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097280"/>
            <a:ext cx="4389120" cy="4846320"/>
          </a:xfrm>
          <a:prstGeom prst="roundRect">
            <a:avLst/>
          </a:prstGeom>
          <a:solidFill>
            <a:srgbClr val="0B1F4A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1234439"/>
            <a:ext cx="40690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A56E"/>
                </a:solidFill>
                <a:latin typeface="Georgia"/>
              </a:rPr>
              <a:t>Couches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Frontend : Next.js (RTL / arabe)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API : FastAPI + JWT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Donnees : PostgreSQL (pas SQLite prod)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Jobs : Celery + Redis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Fichiers : MinIO + chiffrement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STT : Whisper dans backend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LLM : Ollama (+ fallbacks)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Multi-tenant par cabinet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APIs metier exposees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Reference technique courte pour questions orales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5623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4A"/>
                </a:solidFill>
                <a:latin typeface="Georgia"/>
              </a:rPr>
              <a:t>Auth</a:t>
            </a:r>
          </a:p>
          <a:p>
            <a:r>
              <a:rPr sz="1100" b="0">
                <a:solidFill>
                  <a:srgbClr val="5A6475"/>
                </a:solidFill>
                <a:latin typeface="Calibri"/>
              </a:rPr>
              <a:t>/api/auth/* — login, OTP email, magic link, refresh, Google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623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4A"/>
                </a:solidFill>
                <a:latin typeface="Georgia"/>
              </a:rPr>
              <a:t>Dictee</a:t>
            </a:r>
          </a:p>
          <a:p>
            <a:r>
              <a:rPr sz="1100" b="0">
                <a:solidFill>
                  <a:srgbClr val="5A6475"/>
                </a:solidFill>
                <a:latin typeface="Calibri"/>
              </a:rPr>
              <a:t>/api/dictation/transcribe · polish · compose · stt-status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148839"/>
            <a:ext cx="5623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4A"/>
                </a:solidFill>
                <a:latin typeface="Georgia"/>
              </a:rPr>
              <a:t>Dossiers</a:t>
            </a:r>
          </a:p>
          <a:p>
            <a:r>
              <a:rPr sz="1100" b="0">
                <a:solidFill>
                  <a:srgbClr val="5A6475"/>
                </a:solidFill>
                <a:latin typeface="Calibri"/>
              </a:rPr>
              <a:t>/api/cases — CRUD + domaine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39"/>
            <a:ext cx="5623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313432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4A"/>
                </a:solidFill>
                <a:latin typeface="Georgia"/>
              </a:rPr>
              <a:t>Documents</a:t>
            </a:r>
          </a:p>
          <a:p>
            <a:r>
              <a:rPr sz="1100" b="0">
                <a:solidFill>
                  <a:srgbClr val="5A6475"/>
                </a:solidFill>
                <a:latin typeface="Calibri"/>
              </a:rPr>
              <a:t>/api/documents · /synthese · 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5623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4A"/>
                </a:solidFill>
                <a:latin typeface="Georgia"/>
              </a:rPr>
              <a:t>Workspace</a:t>
            </a:r>
          </a:p>
          <a:p>
            <a:r>
              <a:rPr sz="1100" b="0">
                <a:solidFill>
                  <a:srgbClr val="5A6475"/>
                </a:solidFill>
                <a:latin typeface="Calibri"/>
              </a:rPr>
              <a:t>/api/workspace — agenda / taches /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00400"/>
            <a:ext cx="5623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64992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4A"/>
                </a:solidFill>
                <a:latin typeface="Georgia"/>
              </a:rPr>
              <a:t>Cabinet</a:t>
            </a:r>
          </a:p>
          <a:p>
            <a:r>
              <a:rPr sz="1100" b="0">
                <a:solidFill>
                  <a:srgbClr val="5A6475"/>
                </a:solidFill>
                <a:latin typeface="Calibri"/>
              </a:rPr>
              <a:t>/api/team · /plaidoirie-templates · /settings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251959"/>
            <a:ext cx="5623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16551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4A"/>
                </a:solidFill>
                <a:latin typeface="Georgia"/>
              </a:rPr>
              <a:t>Admin</a:t>
            </a:r>
          </a:p>
          <a:p>
            <a:r>
              <a:rPr sz="1100" b="0">
                <a:solidFill>
                  <a:srgbClr val="5A6475"/>
                </a:solidFill>
                <a:latin typeface="Calibri"/>
              </a:rPr>
              <a:t>/api/admin — supervision WebVoice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Images Docker — role &amp; publication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Pourquoi ce n'est pas « juste du packaging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11338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4A"/>
                </a:solidFill>
                <a:latin typeface="Calibri"/>
              </a:rPr>
              <a:t>sanad-backend</a:t>
            </a:r>
          </a:p>
          <a:p>
            <a:r>
              <a:rPr sz="1200" b="0">
                <a:solidFill>
                  <a:srgbClr val="5A6475"/>
                </a:solidFill>
                <a:latin typeface="Calibri"/>
              </a:rPr>
              <a:t>API FastAPI + Whisper + OCR  ·  Coeur metier &amp; STT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39"/>
            <a:ext cx="11338560" cy="7772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399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4A"/>
                </a:solidFill>
                <a:latin typeface="Calibri"/>
              </a:rPr>
              <a:t>sanad-frontend</a:t>
            </a:r>
          </a:p>
          <a:p>
            <a:r>
              <a:rPr sz="1200" b="0">
                <a:solidFill>
                  <a:srgbClr val="5A6475"/>
                </a:solidFill>
                <a:latin typeface="Calibri"/>
              </a:rPr>
              <a:t>Next.js build production  ·  Interface avocat /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788920"/>
            <a:ext cx="11338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4A"/>
                </a:solidFill>
                <a:latin typeface="Calibri"/>
              </a:rPr>
              <a:t>sanad-celery</a:t>
            </a:r>
          </a:p>
          <a:p>
            <a:r>
              <a:rPr sz="1200" b="0">
                <a:solidFill>
                  <a:srgbClr val="5A6475"/>
                </a:solidFill>
                <a:latin typeface="Calibri"/>
              </a:rPr>
              <a:t>Workers asynchrones  ·  OCR, indexation pieces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657599"/>
            <a:ext cx="11338560" cy="7772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59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4A"/>
                </a:solidFill>
                <a:latin typeface="Calibri"/>
              </a:rPr>
              <a:t>postgres / redis / minio</a:t>
            </a:r>
          </a:p>
          <a:p>
            <a:r>
              <a:rPr sz="1200" b="0">
                <a:solidFill>
                  <a:srgbClr val="5A6475"/>
                </a:solidFill>
                <a:latin typeface="Calibri"/>
              </a:rPr>
              <a:t>Images officielles  ·  Donnees, queue, fichiers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526279"/>
            <a:ext cx="11338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4A"/>
                </a:solidFill>
                <a:latin typeface="Calibri"/>
              </a:rPr>
              <a:t>mailhog / ollama</a:t>
            </a:r>
          </a:p>
          <a:p>
            <a:r>
              <a:rPr sz="1200" b="0">
                <a:solidFill>
                  <a:srgbClr val="5A6475"/>
                </a:solidFill>
                <a:latin typeface="Calibri"/>
              </a:rPr>
              <a:t>Dev &amp; LLM local  ·  Emails test + modeles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53212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Calibri"/>
              </a:rPr>
              <a:t>Publication Docker Hub (anadouae1/sanad-*) : meme binaire sur PC / VPS / demo — reproductibilite, deploiement rapide, preuve de maturite DevOps. Code source : GitHub Plateforme-d-Assistance-en-IA-pour-Avocats.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Deploiement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Schema — infra reelle du projet</a:t>
            </a:r>
          </a:p>
        </p:txBody>
      </p:sp>
      <p:pic>
        <p:nvPicPr>
          <p:cNvPr id="7" name="Picture 6" descr="sanad-deploi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35113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Benchmark — grille OK / Non 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Format demande au 1er suivi · criteres centres coeur produit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Criteres : dictee→texte, correction/edition, export PDF/DOC, classement dossier, roles, domaines, agenda lie, mode degrade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Gestionnaires (SmartAvocat, Avocato…) : OK dossiers — Non OK flux plaidoirie integre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IA juridiques (Legaliq, Kanoun…) : utiles sur le fond — Non OK SaaS cabinet complet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Dragon Legal : OK dictee desktop — Non OK parcours web jusqu'au dossier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Sanad : OK sur le flux integre voix → document → dossier → equipe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▸  Detail tabule : docs/benchmark-ok-nok.md (a projeter si question)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Bilan des livraisons depuis le 1er suivi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Checklist unique — pas de reprise des slides precedentes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B4A"/>
                </a:solidFill>
                <a:latin typeface="Calibri"/>
              </a:rPr>
              <a:t>✓  Whisper arabe + fichiers audio + segments longs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24028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B4A"/>
                </a:solidFill>
                <a:latin typeface="Calibri"/>
              </a:rPr>
              <a:t>✓  UX plaidoirie 2 ecrans + templates cabinet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33756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B4A"/>
                </a:solidFill>
                <a:latin typeface="Calibri"/>
              </a:rPr>
              <a:t>✓  Domaines dossiers + filtre/recherche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43484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B4A"/>
                </a:solidFill>
                <a:latin typeface="Calibri"/>
              </a:rPr>
              <a:t>✓  Agenda / taches / notes ↔ case_id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4300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7160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B4A"/>
                </a:solidFill>
                <a:latin typeface="Calibri"/>
              </a:rPr>
              <a:t>✓  Synthese pieces (prompt anti-invention)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4028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B4A"/>
                </a:solidFill>
                <a:latin typeface="Calibri"/>
              </a:rPr>
              <a:t>✓  Auth pro (OTP, magic link, roles)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3756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5661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B4A"/>
                </a:solidFill>
                <a:latin typeface="Calibri"/>
              </a:rPr>
              <a:t>✓  UI arabe defaut / FR optionnel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43484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6344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B4A"/>
                </a:solidFill>
                <a:latin typeface="Calibri"/>
              </a:rPr>
              <a:t>✓  GitHub + images Docker Hub publiees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81967" cy="73152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1F4A"/>
                </a:solidFill>
                <a:latin typeface="Georgia"/>
              </a:rPr>
              <a:t>Demo (5–7 min) &amp;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5"/>
                </a:solidFill>
                <a:latin typeface="Calibri"/>
              </a:rPr>
              <a:t>Scenario unique + prochaines priorites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5669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34439"/>
            <a:ext cx="53492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1F4A"/>
                </a:solidFill>
                <a:latin typeface="Georgia"/>
              </a:rPr>
              <a:t>Scenario de demo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1. Login demo@sanad.ma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2. Affaire + domaine + filtre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3. Plaidoirie : modele → audio arabe → corriger → Word/PDF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4. Piece → synthese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5. Agenda lie au dossier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A6475"/>
                </a:solidFill>
                <a:latin typeface="Calibri"/>
              </a:rPr>
              <a:t>6. (option) assistant / admin WebVoice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394960" cy="4846320"/>
          </a:xfrm>
          <a:prstGeom prst="roundRect">
            <a:avLst/>
          </a:prstGeom>
          <a:solidFill>
            <a:srgbClr val="0B1F4A"/>
          </a:solidFill>
          <a:ln w="12700">
            <a:solidFill>
              <a:srgbClr val="C4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234439"/>
            <a:ext cx="50749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A56E"/>
                </a:solidFill>
                <a:latin typeface="Georgia"/>
              </a:rPr>
              <a:t>Suite jusqu'au prochain jalon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Qualite STT juridique (modele / glossaire)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OCR scans difficiles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SMTP production (Resend / SES)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Durcissement VPS / monitoring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7F4EF"/>
                </a:solidFill>
                <a:latin typeface="Calibri"/>
              </a:rPr>
              <a:t>Veille analyse globale dossier = backlog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475"/>
                </a:solidFill>
                <a:latin typeface="Calibri"/>
              </a:rPr>
              <a:t>Sanad · 2e suivi PFA · ENSA Tetouan · WebVoice · Douae El Assal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475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C4A56E"/>
                </a:solidFill>
                <a:latin typeface="Georgia"/>
              </a:rPr>
              <a:t>Merci — 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7F4EF"/>
                </a:solidFill>
                <a:latin typeface="Calibri"/>
              </a:rPr>
              <a:t>Message final : chaque remarque du 1er suivi a une reponse d'architecture</a:t>
            </a:r>
          </a:p>
          <a:p>
            <a:r>
              <a:rPr sz="1500" b="0">
                <a:solidFill>
                  <a:srgbClr val="F7F4EF"/>
                </a:solidFill>
                <a:latin typeface="Calibri"/>
              </a:rPr>
              <a:t>ou de produit — pas seulement un nouvel ecran.</a:t>
            </a:r>
          </a:p>
          <a:p>
            <a:r>
              <a:rPr sz="1500" b="0">
                <a:solidFill>
                  <a:srgbClr val="F7F4EF"/>
                </a:solidFill>
                <a:latin typeface="Calibri"/>
              </a:rPr>
              <a:t/>
            </a:r>
          </a:p>
          <a:p>
            <a:r>
              <a:rPr sz="1500" b="0">
                <a:solidFill>
                  <a:srgbClr val="F7F4EF"/>
                </a:solidFill>
                <a:latin typeface="Calibri"/>
              </a:rPr>
              <a:t>Douae El Assal  ·  ENSA Tetouan  ·  WebVoice  ·  Sanad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4A56E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